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97" autoAdjust="0"/>
  </p:normalViewPr>
  <p:slideViewPr>
    <p:cSldViewPr snapToGrid="0">
      <p:cViewPr varScale="1">
        <p:scale>
          <a:sx n="68" d="100"/>
          <a:sy n="68" d="100"/>
        </p:scale>
        <p:origin x="616"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AD3245-09A7-4F9C-8895-36E9E0F66B16}" type="datetimeFigureOut">
              <a:rPr lang="en-GB" smtClean="0"/>
              <a:t>14/11/2025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053E81-70B7-4665-8E04-8503FEA5AA29}" type="slidenum">
              <a:rPr lang="en-GB" smtClean="0"/>
              <a:t>‹#›</a:t>
            </a:fld>
            <a:endParaRPr lang="en-GB"/>
          </a:p>
        </p:txBody>
      </p:sp>
    </p:spTree>
    <p:extLst>
      <p:ext uri="{BB962C8B-B14F-4D97-AF65-F5344CB8AC3E}">
        <p14:creationId xmlns:p14="http://schemas.microsoft.com/office/powerpoint/2010/main" val="1822398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4053E81-70B7-4665-8E04-8503FEA5AA29}" type="slidenum">
              <a:rPr lang="en-GB" smtClean="0"/>
              <a:t>1</a:t>
            </a:fld>
            <a:endParaRPr lang="en-GB"/>
          </a:p>
        </p:txBody>
      </p:sp>
    </p:spTree>
    <p:extLst>
      <p:ext uri="{BB962C8B-B14F-4D97-AF65-F5344CB8AC3E}">
        <p14:creationId xmlns:p14="http://schemas.microsoft.com/office/powerpoint/2010/main" val="3180791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4053E81-70B7-4665-8E04-8503FEA5AA29}" type="slidenum">
              <a:rPr lang="en-GB" smtClean="0"/>
              <a:t>4</a:t>
            </a:fld>
            <a:endParaRPr lang="en-GB"/>
          </a:p>
        </p:txBody>
      </p:sp>
    </p:spTree>
    <p:extLst>
      <p:ext uri="{BB962C8B-B14F-4D97-AF65-F5344CB8AC3E}">
        <p14:creationId xmlns:p14="http://schemas.microsoft.com/office/powerpoint/2010/main" val="2659057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12E9-9187-E72F-7C2E-F4361B2EED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0B0E261-BCA5-BBC5-FCD5-56087FFFB5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0CDB5F8-4380-18B3-B08E-E2C36CF7827B}"/>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5" name="Footer Placeholder 4">
            <a:extLst>
              <a:ext uri="{FF2B5EF4-FFF2-40B4-BE49-F238E27FC236}">
                <a16:creationId xmlns:a16="http://schemas.microsoft.com/office/drawing/2014/main" id="{94E0D498-8BCC-2B0B-0DB0-BE3373E968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10B44F-2595-79F4-E2A5-CB2A45A9BE83}"/>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990733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C6CE9-A0DA-31C0-DD13-982555BFE17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22F8FFB-FE72-A837-8688-F524DDF008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A4D54A-51F9-B025-6157-1E019A95F196}"/>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5" name="Footer Placeholder 4">
            <a:extLst>
              <a:ext uri="{FF2B5EF4-FFF2-40B4-BE49-F238E27FC236}">
                <a16:creationId xmlns:a16="http://schemas.microsoft.com/office/drawing/2014/main" id="{D7D82E8A-BCC9-495A-1BFD-587A6D1E40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76C6B0-20AF-6D94-4ED9-4627C3A9502B}"/>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2970174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B8DA6-3CFF-FAD9-7ABA-203F8EE1E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0E73B5D-0A0D-A02B-905E-BF675217EF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64056D-4A2D-C164-AB58-E91843BFF94A}"/>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5" name="Footer Placeholder 4">
            <a:extLst>
              <a:ext uri="{FF2B5EF4-FFF2-40B4-BE49-F238E27FC236}">
                <a16:creationId xmlns:a16="http://schemas.microsoft.com/office/drawing/2014/main" id="{3B57D6CC-92E5-62E3-8294-8E1335C8DAE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F89211-0246-9D04-6372-3D858EF45E07}"/>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582161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8FD7B-708F-92A7-EB0E-FF601C9279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0057CDD-8EB3-8D80-A33C-39C863E537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9C92DFE-8733-624B-BC0D-28D5121934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3A1011C-7C55-A09D-C91C-837F9DB6F4DC}"/>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6" name="Footer Placeholder 5">
            <a:extLst>
              <a:ext uri="{FF2B5EF4-FFF2-40B4-BE49-F238E27FC236}">
                <a16:creationId xmlns:a16="http://schemas.microsoft.com/office/drawing/2014/main" id="{261231CD-3F98-53B6-D265-4110730C08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9AE35EA-D1CF-8B42-94C3-C67C9CFFEC1A}"/>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400786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BBB3-CD35-D473-9EA3-ECA4799928E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8D2A5FB-647D-7438-F962-A7B8CB6C7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D63E0F-761F-2FD9-9888-A058286D0E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186C012-10EC-0AF3-2A68-ED0896A1F7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E57C86-7A47-7E12-DA9C-968085E195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B6719A6-B998-B259-AB14-1DEE9272508E}"/>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8" name="Footer Placeholder 7">
            <a:extLst>
              <a:ext uri="{FF2B5EF4-FFF2-40B4-BE49-F238E27FC236}">
                <a16:creationId xmlns:a16="http://schemas.microsoft.com/office/drawing/2014/main" id="{8C206D98-60EC-BF15-359F-81E2414C3EA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85EFD72-DD79-04DE-ED2E-295DED63BE58}"/>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3192166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B685-45BE-A8A5-5BE9-045F613BF9B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1179E36-F3B4-7129-A483-5989D3682097}"/>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4" name="Footer Placeholder 3">
            <a:extLst>
              <a:ext uri="{FF2B5EF4-FFF2-40B4-BE49-F238E27FC236}">
                <a16:creationId xmlns:a16="http://schemas.microsoft.com/office/drawing/2014/main" id="{DB21BAAD-8D17-0E5D-85E2-569B797C8D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CD737F4-F8BF-1A59-738B-EA85C84F3551}"/>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3707005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3DBE84-EA63-0C8F-1C9E-D644558E3BB9}"/>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3" name="Footer Placeholder 2">
            <a:extLst>
              <a:ext uri="{FF2B5EF4-FFF2-40B4-BE49-F238E27FC236}">
                <a16:creationId xmlns:a16="http://schemas.microsoft.com/office/drawing/2014/main" id="{F1CED233-68B2-FEA1-AED1-257A0460E2F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E043E8-0329-B30C-47C9-363694CCA49B}"/>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1132556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6AF9-0D89-C8FC-725C-94A1282934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A111F78-BF56-64BA-A891-FA84E74C75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62FA953-FB9D-52D3-21E1-076068A4CB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0E8C7D-4034-187E-BF25-7ACD2F1AC934}"/>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6" name="Footer Placeholder 5">
            <a:extLst>
              <a:ext uri="{FF2B5EF4-FFF2-40B4-BE49-F238E27FC236}">
                <a16:creationId xmlns:a16="http://schemas.microsoft.com/office/drawing/2014/main" id="{3F2D568A-68CA-E862-8C4C-B3D0990015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A731002-A24B-5437-0B6E-911789536ECB}"/>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113839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E1E85-97AD-6929-8921-1B631CB6DE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6669457-C59D-FE98-2656-C79C287FA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AA11FB-59EB-CFD4-F400-E4851B191E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C954C4-10C4-F4B9-B555-499190BA8157}"/>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6" name="Footer Placeholder 5">
            <a:extLst>
              <a:ext uri="{FF2B5EF4-FFF2-40B4-BE49-F238E27FC236}">
                <a16:creationId xmlns:a16="http://schemas.microsoft.com/office/drawing/2014/main" id="{64024955-7963-6F22-F6D8-A6176F18C7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2B43BB0-63E9-E39A-25E0-F9BA15F1F949}"/>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377623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A2064-BFC7-C975-F289-0B69AAADFFC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F534BC0-0F9D-E2D0-DAC6-F55527D6DF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A00427-BD4B-DE66-DBEF-B144A6A51EFC}"/>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5" name="Footer Placeholder 4">
            <a:extLst>
              <a:ext uri="{FF2B5EF4-FFF2-40B4-BE49-F238E27FC236}">
                <a16:creationId xmlns:a16="http://schemas.microsoft.com/office/drawing/2014/main" id="{1C9474EE-CDDB-3E70-52A8-08DBAADA59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A0DAE8-F01E-98F1-EC68-6DDE6F9D0629}"/>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1178938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F727C-57E7-A5EC-CCD6-DF5DF18C4D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C59DE48-1384-1004-B821-2831D620ED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091275-1F33-9762-E70E-F604ACFB9E36}"/>
              </a:ext>
            </a:extLst>
          </p:cNvPr>
          <p:cNvSpPr>
            <a:spLocks noGrp="1"/>
          </p:cNvSpPr>
          <p:nvPr>
            <p:ph type="dt" sz="half" idx="10"/>
          </p:nvPr>
        </p:nvSpPr>
        <p:spPr/>
        <p:txBody>
          <a:bodyPr/>
          <a:lstStyle/>
          <a:p>
            <a:fld id="{5F57965A-166E-490D-80D9-207D3F0C3CD5}" type="datetimeFigureOut">
              <a:rPr lang="en-GB" smtClean="0"/>
              <a:t>14/11/2025</a:t>
            </a:fld>
            <a:endParaRPr lang="en-GB"/>
          </a:p>
        </p:txBody>
      </p:sp>
      <p:sp>
        <p:nvSpPr>
          <p:cNvPr id="5" name="Footer Placeholder 4">
            <a:extLst>
              <a:ext uri="{FF2B5EF4-FFF2-40B4-BE49-F238E27FC236}">
                <a16:creationId xmlns:a16="http://schemas.microsoft.com/office/drawing/2014/main" id="{EABEBB3C-7F1D-7E46-F71A-814263112E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1E3BFF-F4C4-961C-7491-E19F45F15673}"/>
              </a:ext>
            </a:extLst>
          </p:cNvPr>
          <p:cNvSpPr>
            <a:spLocks noGrp="1"/>
          </p:cNvSpPr>
          <p:nvPr>
            <p:ph type="sldNum" sz="quarter" idx="12"/>
          </p:nvPr>
        </p:nvSpPr>
        <p:spPr/>
        <p:txBody>
          <a:bodyPr/>
          <a:lstStyle/>
          <a:p>
            <a:fld id="{59EC2913-928B-486D-B78A-B21EB565ED66}" type="slidenum">
              <a:rPr lang="en-GB" smtClean="0"/>
              <a:t>‹#›</a:t>
            </a:fld>
            <a:endParaRPr lang="en-GB"/>
          </a:p>
        </p:txBody>
      </p:sp>
    </p:spTree>
    <p:extLst>
      <p:ext uri="{BB962C8B-B14F-4D97-AF65-F5344CB8AC3E}">
        <p14:creationId xmlns:p14="http://schemas.microsoft.com/office/powerpoint/2010/main" val="276091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9C599F-7A48-04AD-DA22-C2F12274BA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69277D-0869-1A0A-392D-FEB3B85B73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03AC8B-D0AF-3F02-384C-B9235844D4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57965A-166E-490D-80D9-207D3F0C3CD5}" type="datetimeFigureOut">
              <a:rPr lang="en-GB" smtClean="0"/>
              <a:t>14/11/2025</a:t>
            </a:fld>
            <a:endParaRPr lang="en-GB"/>
          </a:p>
        </p:txBody>
      </p:sp>
      <p:sp>
        <p:nvSpPr>
          <p:cNvPr id="5" name="Footer Placeholder 4">
            <a:extLst>
              <a:ext uri="{FF2B5EF4-FFF2-40B4-BE49-F238E27FC236}">
                <a16:creationId xmlns:a16="http://schemas.microsoft.com/office/drawing/2014/main" id="{6F498916-2AA7-2377-4819-D8AE20DC96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B32CF02-0CD7-16E2-A16A-16F811DA2E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EC2913-928B-486D-B78A-B21EB565ED66}" type="slidenum">
              <a:rPr lang="en-GB" smtClean="0"/>
              <a:t>‹#›</a:t>
            </a:fld>
            <a:endParaRPr lang="en-GB"/>
          </a:p>
        </p:txBody>
      </p:sp>
    </p:spTree>
    <p:extLst>
      <p:ext uri="{BB962C8B-B14F-4D97-AF65-F5344CB8AC3E}">
        <p14:creationId xmlns:p14="http://schemas.microsoft.com/office/powerpoint/2010/main" val="738254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E941-14DD-8606-373F-EE6E5070A387}"/>
              </a:ext>
            </a:extLst>
          </p:cNvPr>
          <p:cNvSpPr>
            <a:spLocks noGrp="1"/>
          </p:cNvSpPr>
          <p:nvPr>
            <p:ph type="ctrTitle"/>
          </p:nvPr>
        </p:nvSpPr>
        <p:spPr/>
        <p:txBody>
          <a:bodyPr>
            <a:normAutofit fontScale="90000"/>
          </a:bodyPr>
          <a:lstStyle/>
          <a:p>
            <a:r>
              <a:rPr lang="en-GB" dirty="0"/>
              <a:t> </a:t>
            </a:r>
            <a:r>
              <a:rPr lang="en-GB" i="1" dirty="0">
                <a:solidFill>
                  <a:srgbClr val="002060"/>
                </a:solidFill>
              </a:rPr>
              <a:t>E-Commerce Analytics Dashboard</a:t>
            </a:r>
            <a:br>
              <a:rPr lang="en-GB" i="1" dirty="0"/>
            </a:br>
            <a:r>
              <a:rPr lang="en-GB" sz="2700" i="1" dirty="0">
                <a:solidFill>
                  <a:srgbClr val="002060"/>
                </a:solidFill>
              </a:rPr>
              <a:t>Uncovering insights into sales, delivery, and customer </a:t>
            </a:r>
            <a:r>
              <a:rPr lang="en-GB" sz="2700" i="1" dirty="0" err="1">
                <a:solidFill>
                  <a:srgbClr val="002060"/>
                </a:solidFill>
              </a:rPr>
              <a:t>behavior</a:t>
            </a:r>
            <a:r>
              <a:rPr lang="en-GB" sz="2700" i="1" dirty="0">
                <a:solidFill>
                  <a:srgbClr val="002060"/>
                </a:solidFill>
              </a:rPr>
              <a:t> using SQL &amp; Tableau</a:t>
            </a:r>
            <a:endParaRPr lang="en-GB" sz="2700" dirty="0">
              <a:solidFill>
                <a:srgbClr val="002060"/>
              </a:solidFill>
            </a:endParaRPr>
          </a:p>
        </p:txBody>
      </p:sp>
      <p:sp>
        <p:nvSpPr>
          <p:cNvPr id="3" name="Subtitle 2">
            <a:extLst>
              <a:ext uri="{FF2B5EF4-FFF2-40B4-BE49-F238E27FC236}">
                <a16:creationId xmlns:a16="http://schemas.microsoft.com/office/drawing/2014/main" id="{763DAFBA-7A7C-F664-DA05-823859010E32}"/>
              </a:ext>
            </a:extLst>
          </p:cNvPr>
          <p:cNvSpPr>
            <a:spLocks noGrp="1"/>
          </p:cNvSpPr>
          <p:nvPr>
            <p:ph type="subTitle" idx="1"/>
          </p:nvPr>
        </p:nvSpPr>
        <p:spPr/>
        <p:txBody>
          <a:bodyPr>
            <a:normAutofit fontScale="55000" lnSpcReduction="20000"/>
          </a:bodyPr>
          <a:lstStyle/>
          <a:p>
            <a:br>
              <a:rPr lang="en-GB" sz="3200" dirty="0"/>
            </a:br>
            <a:br>
              <a:rPr lang="en-GB" b="1" dirty="0">
                <a:solidFill>
                  <a:srgbClr val="002060"/>
                </a:solidFill>
              </a:rPr>
            </a:br>
            <a:r>
              <a:rPr lang="en-GB" sz="3300" b="1" i="1" dirty="0">
                <a:solidFill>
                  <a:srgbClr val="002060"/>
                </a:solidFill>
              </a:rPr>
              <a:t>Name: </a:t>
            </a:r>
            <a:r>
              <a:rPr lang="en-GB" sz="3300" i="1" dirty="0">
                <a:solidFill>
                  <a:srgbClr val="002060"/>
                </a:solidFill>
              </a:rPr>
              <a:t>Chukwuemeka Nnamani — Data Analyst Portfolio Project</a:t>
            </a:r>
            <a:br>
              <a:rPr lang="en-GB" sz="3300" dirty="0">
                <a:solidFill>
                  <a:srgbClr val="002060"/>
                </a:solidFill>
              </a:rPr>
            </a:br>
            <a:r>
              <a:rPr lang="en-GB" sz="3300" b="1" dirty="0">
                <a:solidFill>
                  <a:srgbClr val="002060"/>
                </a:solidFill>
              </a:rPr>
              <a:t>Tools:</a:t>
            </a:r>
            <a:r>
              <a:rPr lang="en-GB" sz="3300" dirty="0">
                <a:solidFill>
                  <a:srgbClr val="002060"/>
                </a:solidFill>
              </a:rPr>
              <a:t> SQL Server • Tableau Public • PowerPoint</a:t>
            </a:r>
            <a:br>
              <a:rPr lang="en-GB" sz="3300" dirty="0">
                <a:solidFill>
                  <a:srgbClr val="002060"/>
                </a:solidFill>
              </a:rPr>
            </a:br>
            <a:r>
              <a:rPr lang="en-GB" sz="3300" b="1" dirty="0">
                <a:solidFill>
                  <a:srgbClr val="002060"/>
                </a:solidFill>
              </a:rPr>
              <a:t>Date:</a:t>
            </a:r>
            <a:r>
              <a:rPr lang="en-GB" sz="3300" dirty="0">
                <a:solidFill>
                  <a:srgbClr val="002060"/>
                </a:solidFill>
              </a:rPr>
              <a:t> </a:t>
            </a:r>
            <a:r>
              <a:rPr lang="en-GB" sz="3300" i="1" dirty="0">
                <a:solidFill>
                  <a:srgbClr val="002060"/>
                </a:solidFill>
              </a:rPr>
              <a:t>November 2025</a:t>
            </a:r>
          </a:p>
          <a:p>
            <a:r>
              <a:rPr lang="en-GB" sz="2900" dirty="0">
                <a:solidFill>
                  <a:srgbClr val="002060"/>
                </a:solidFill>
              </a:rPr>
              <a:t>Hello, my name is </a:t>
            </a:r>
            <a:r>
              <a:rPr lang="en-GB" sz="2900" b="1" dirty="0">
                <a:solidFill>
                  <a:srgbClr val="002060"/>
                </a:solidFill>
              </a:rPr>
              <a:t>Chukwuemeka Nnamani</a:t>
            </a:r>
            <a:r>
              <a:rPr lang="en-GB" sz="2900" dirty="0">
                <a:solidFill>
                  <a:srgbClr val="002060"/>
                </a:solidFill>
              </a:rPr>
              <a:t>, and this is my </a:t>
            </a:r>
            <a:r>
              <a:rPr lang="en-GB" sz="2900" b="1" dirty="0">
                <a:solidFill>
                  <a:srgbClr val="002060"/>
                </a:solidFill>
              </a:rPr>
              <a:t>E-Commerce Analytics Dashboard</a:t>
            </a:r>
            <a:r>
              <a:rPr lang="en-GB" sz="2900" dirty="0">
                <a:solidFill>
                  <a:srgbClr val="002060"/>
                </a:solidFill>
              </a:rPr>
              <a:t> — a data-driven project where I </a:t>
            </a:r>
            <a:r>
              <a:rPr lang="en-GB" sz="2900" dirty="0" err="1">
                <a:solidFill>
                  <a:srgbClr val="002060"/>
                </a:solidFill>
              </a:rPr>
              <a:t>analyzed</a:t>
            </a:r>
            <a:r>
              <a:rPr lang="en-GB" sz="2900" dirty="0">
                <a:solidFill>
                  <a:srgbClr val="002060"/>
                </a:solidFill>
              </a:rPr>
              <a:t> sales, delivery, and customer patterns using SQL and Tableau. My goal was to turn raw data into actionable insights that improve business performance.</a:t>
            </a:r>
          </a:p>
        </p:txBody>
      </p:sp>
    </p:spTree>
    <p:extLst>
      <p:ext uri="{BB962C8B-B14F-4D97-AF65-F5344CB8AC3E}">
        <p14:creationId xmlns:p14="http://schemas.microsoft.com/office/powerpoint/2010/main" val="3308337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1E476-778C-1247-3DEE-CB60D8098D4C}"/>
              </a:ext>
            </a:extLst>
          </p:cNvPr>
          <p:cNvSpPr>
            <a:spLocks noGrp="1"/>
          </p:cNvSpPr>
          <p:nvPr>
            <p:ph type="title"/>
          </p:nvPr>
        </p:nvSpPr>
        <p:spPr/>
        <p:txBody>
          <a:bodyPr/>
          <a:lstStyle/>
          <a:p>
            <a:pPr algn="ctr"/>
            <a:r>
              <a:rPr lang="en-GB" sz="3600" dirty="0">
                <a:latin typeface="Segoe UI Semibold" panose="020B0702040204020203" pitchFamily="34" charset="0"/>
                <a:cs typeface="Segoe UI Semibold" panose="020B0702040204020203" pitchFamily="34" charset="0"/>
              </a:rPr>
              <a:t>Why</a:t>
            </a:r>
            <a:r>
              <a:rPr lang="en-GB" i="1" dirty="0"/>
              <a:t> </a:t>
            </a:r>
            <a:r>
              <a:rPr lang="en-GB" sz="3600" dirty="0">
                <a:latin typeface="Segoe UI Semibold" panose="020B0702040204020203" pitchFamily="34" charset="0"/>
                <a:cs typeface="Segoe UI Semibold" panose="020B0702040204020203" pitchFamily="34" charset="0"/>
              </a:rPr>
              <a:t>This</a:t>
            </a:r>
            <a:r>
              <a:rPr lang="en-GB" i="1" dirty="0"/>
              <a:t> </a:t>
            </a:r>
            <a:r>
              <a:rPr lang="en-GB" sz="3600" dirty="0">
                <a:latin typeface="Segoe UI Semibold" panose="020B0702040204020203" pitchFamily="34" charset="0"/>
                <a:cs typeface="Segoe UI Semibold" panose="020B0702040204020203" pitchFamily="34" charset="0"/>
              </a:rPr>
              <a:t>Project</a:t>
            </a:r>
            <a:r>
              <a:rPr lang="en-GB" i="1" dirty="0"/>
              <a:t>?</a:t>
            </a:r>
            <a:endParaRPr lang="en-GB" dirty="0"/>
          </a:p>
        </p:txBody>
      </p:sp>
      <p:sp>
        <p:nvSpPr>
          <p:cNvPr id="3" name="Content Placeholder 2">
            <a:extLst>
              <a:ext uri="{FF2B5EF4-FFF2-40B4-BE49-F238E27FC236}">
                <a16:creationId xmlns:a16="http://schemas.microsoft.com/office/drawing/2014/main" id="{2F533DD6-F26A-472C-4A78-8D3E34E4A953}"/>
              </a:ext>
            </a:extLst>
          </p:cNvPr>
          <p:cNvSpPr>
            <a:spLocks noGrp="1"/>
          </p:cNvSpPr>
          <p:nvPr>
            <p:ph idx="1"/>
          </p:nvPr>
        </p:nvSpPr>
        <p:spPr/>
        <p:txBody>
          <a:bodyPr>
            <a:normAutofit/>
          </a:bodyPr>
          <a:lstStyle/>
          <a:p>
            <a:r>
              <a:rPr lang="en-GB" sz="2000" dirty="0"/>
              <a:t>E-commerce companies struggle with understanding what drives </a:t>
            </a:r>
            <a:r>
              <a:rPr lang="en-GB" sz="2000" b="1" dirty="0"/>
              <a:t>sales growth, customer retention, and delivery performance</a:t>
            </a:r>
            <a:r>
              <a:rPr lang="en-GB" sz="2000" dirty="0"/>
              <a:t>.</a:t>
            </a:r>
          </a:p>
          <a:p>
            <a:r>
              <a:rPr lang="en-GB" sz="2000" dirty="0"/>
              <a:t>This analysis focuses on revealing insights from over 100k orders to help identify </a:t>
            </a:r>
            <a:r>
              <a:rPr lang="en-GB" sz="2000" b="1" dirty="0"/>
              <a:t>growth opportunities and operational inefficiencies</a:t>
            </a:r>
            <a:r>
              <a:rPr lang="en-GB" sz="2000" dirty="0"/>
              <a:t>.</a:t>
            </a:r>
          </a:p>
          <a:p>
            <a:r>
              <a:rPr lang="en-GB" sz="2000" dirty="0"/>
              <a:t>The goal: help decision-makers make smarter moves using data</a:t>
            </a:r>
          </a:p>
          <a:p>
            <a:endParaRPr lang="en-GB" dirty="0"/>
          </a:p>
          <a:p>
            <a:pPr marL="0" indent="0">
              <a:buNone/>
            </a:pPr>
            <a:r>
              <a:rPr lang="en-GB" sz="2000" dirty="0"/>
              <a:t>The project idea came from a common business challenge — understanding customer and sales dynamics in e-commerce. Using the </a:t>
            </a:r>
            <a:r>
              <a:rPr lang="en-GB" sz="2000" dirty="0" err="1"/>
              <a:t>Olist</a:t>
            </a:r>
            <a:r>
              <a:rPr lang="en-GB" sz="2000" dirty="0"/>
              <a:t> dataset from Kaggle, I wanted to uncover what drives profitability, how delivery affects retention, and where improvements can be made</a:t>
            </a:r>
          </a:p>
        </p:txBody>
      </p:sp>
    </p:spTree>
    <p:extLst>
      <p:ext uri="{BB962C8B-B14F-4D97-AF65-F5344CB8AC3E}">
        <p14:creationId xmlns:p14="http://schemas.microsoft.com/office/powerpoint/2010/main" val="1560280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367C3-FE16-D40F-B16A-DB9C6F063BB2}"/>
              </a:ext>
            </a:extLst>
          </p:cNvPr>
          <p:cNvSpPr>
            <a:spLocks noGrp="1"/>
          </p:cNvSpPr>
          <p:nvPr>
            <p:ph type="title"/>
          </p:nvPr>
        </p:nvSpPr>
        <p:spPr>
          <a:xfrm>
            <a:off x="838200" y="365125"/>
            <a:ext cx="10515600" cy="898067"/>
          </a:xfrm>
        </p:spPr>
        <p:txBody>
          <a:bodyPr/>
          <a:lstStyle/>
          <a:p>
            <a:r>
              <a:rPr lang="en-GB" dirty="0"/>
              <a:t> </a:t>
            </a:r>
            <a:r>
              <a:rPr lang="en-GB" sz="3600" dirty="0">
                <a:latin typeface="Segoe UI Semibold" panose="020B0702040204020203" pitchFamily="34" charset="0"/>
                <a:cs typeface="Segoe UI Semibold" panose="020B0702040204020203" pitchFamily="34" charset="0"/>
              </a:rPr>
              <a:t>Data</a:t>
            </a:r>
            <a:r>
              <a:rPr lang="en-GB" i="1" dirty="0"/>
              <a:t> </a:t>
            </a:r>
            <a:r>
              <a:rPr lang="en-GB" sz="3600" dirty="0">
                <a:latin typeface="Segoe UI Semibold" panose="020B0702040204020203" pitchFamily="34" charset="0"/>
                <a:cs typeface="Segoe UI Semibold" panose="020B0702040204020203" pitchFamily="34" charset="0"/>
              </a:rPr>
              <a:t>Sources</a:t>
            </a:r>
            <a:r>
              <a:rPr lang="en-GB" i="1" dirty="0"/>
              <a:t> &amp; </a:t>
            </a:r>
            <a:r>
              <a:rPr lang="en-GB" sz="3600" dirty="0">
                <a:latin typeface="Segoe UI Semibold" panose="020B0702040204020203" pitchFamily="34" charset="0"/>
                <a:cs typeface="Segoe UI Semibold" panose="020B0702040204020203" pitchFamily="34" charset="0"/>
              </a:rPr>
              <a:t>Tools</a:t>
            </a:r>
          </a:p>
        </p:txBody>
      </p:sp>
      <p:sp>
        <p:nvSpPr>
          <p:cNvPr id="3" name="Content Placeholder 2">
            <a:extLst>
              <a:ext uri="{FF2B5EF4-FFF2-40B4-BE49-F238E27FC236}">
                <a16:creationId xmlns:a16="http://schemas.microsoft.com/office/drawing/2014/main" id="{28F88745-3BE5-03B8-749A-D894ED0EEE48}"/>
              </a:ext>
            </a:extLst>
          </p:cNvPr>
          <p:cNvSpPr>
            <a:spLocks noGrp="1"/>
          </p:cNvSpPr>
          <p:nvPr>
            <p:ph idx="1"/>
          </p:nvPr>
        </p:nvSpPr>
        <p:spPr/>
        <p:txBody>
          <a:bodyPr>
            <a:normAutofit/>
          </a:bodyPr>
          <a:lstStyle/>
          <a:p>
            <a:r>
              <a:rPr lang="it-IT" sz="2000" b="1" dirty="0"/>
              <a:t>Dataset:</a:t>
            </a:r>
            <a:r>
              <a:rPr lang="it-IT" sz="2000" dirty="0"/>
              <a:t> Brazilian Olist E-Commerce Dataset</a:t>
            </a:r>
          </a:p>
          <a:p>
            <a:r>
              <a:rPr lang="en-GB" sz="2000" b="1" dirty="0"/>
              <a:t>Data Volume:</a:t>
            </a:r>
            <a:r>
              <a:rPr lang="en-GB" sz="2000" dirty="0"/>
              <a:t> 100k+ orders, 3 years of data (2016–2018)</a:t>
            </a:r>
          </a:p>
          <a:p>
            <a:r>
              <a:rPr lang="en-GB" sz="2000" b="1" dirty="0"/>
              <a:t>Tools Used:                                                                                                                                                       </a:t>
            </a:r>
            <a:endParaRPr lang="en-GB" sz="2000" dirty="0"/>
          </a:p>
          <a:p>
            <a:pPr marL="0" indent="0">
              <a:buNone/>
            </a:pPr>
            <a:r>
              <a:rPr lang="en-GB" sz="2000" dirty="0"/>
              <a:t>                      SQL Server – data cleaning, queries, calculations</a:t>
            </a:r>
          </a:p>
          <a:p>
            <a:pPr marL="0" indent="0">
              <a:buNone/>
            </a:pPr>
            <a:r>
              <a:rPr lang="en-GB" sz="2000" dirty="0"/>
              <a:t>                      Tableau – visualization &amp; storytelling</a:t>
            </a:r>
          </a:p>
          <a:p>
            <a:r>
              <a:rPr lang="en-GB" sz="2000" b="1" dirty="0"/>
              <a:t>Data Preparation:</a:t>
            </a:r>
            <a:r>
              <a:rPr lang="en-GB" sz="2000" dirty="0"/>
              <a:t> joined multiple tables (orders, customers, sellers, products, reviews)</a:t>
            </a:r>
          </a:p>
          <a:p>
            <a:pPr marL="0" indent="0">
              <a:buNone/>
            </a:pPr>
            <a:r>
              <a:rPr lang="en-GB" sz="2000" dirty="0"/>
              <a:t>I began with raw CSV files in SQL Server, cleaned and prepared the data, then extracted key KPIs like revenue, AOV, delivery time, and retention. Tableau was used to visualize insights and create an interactive dashboard.</a:t>
            </a:r>
          </a:p>
          <a:p>
            <a:pPr marL="0" indent="0">
              <a:buNone/>
            </a:pPr>
            <a:endParaRPr lang="en-GB" sz="2000" dirty="0"/>
          </a:p>
          <a:p>
            <a:pPr marL="0" indent="0">
              <a:buNone/>
            </a:pPr>
            <a:endParaRPr lang="en-GB" sz="2000" dirty="0"/>
          </a:p>
        </p:txBody>
      </p:sp>
      <p:pic>
        <p:nvPicPr>
          <p:cNvPr id="3074" name="Picture 2" descr="Data Icon Vector Isolated on White ...">
            <a:extLst>
              <a:ext uri="{FF2B5EF4-FFF2-40B4-BE49-F238E27FC236}">
                <a16:creationId xmlns:a16="http://schemas.microsoft.com/office/drawing/2014/main" id="{359585FE-D4C7-242D-64A3-F83DFF61A1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7962" y="5236143"/>
            <a:ext cx="1292126" cy="760395"/>
          </a:xfrm>
          <a:prstGeom prst="rect">
            <a:avLst/>
          </a:prstGeom>
          <a:noFill/>
          <a:extLst>
            <a:ext uri="{909E8E84-426E-40DD-AFC4-6F175D3DCCD1}">
              <a14:hiddenFill xmlns:a14="http://schemas.microsoft.com/office/drawing/2010/main">
                <a:solidFill>
                  <a:srgbClr val="FFFFFF"/>
                </a:solidFill>
              </a14:hiddenFill>
            </a:ext>
          </a:extLst>
        </p:spPr>
      </p:pic>
      <p:sp>
        <p:nvSpPr>
          <p:cNvPr id="5" name="Arrow: Striped Right 4">
            <a:extLst>
              <a:ext uri="{FF2B5EF4-FFF2-40B4-BE49-F238E27FC236}">
                <a16:creationId xmlns:a16="http://schemas.microsoft.com/office/drawing/2014/main" id="{CAC87812-CA4E-BECE-5F60-307EFC3C09C3}"/>
              </a:ext>
            </a:extLst>
          </p:cNvPr>
          <p:cNvSpPr/>
          <p:nvPr/>
        </p:nvSpPr>
        <p:spPr>
          <a:xfrm>
            <a:off x="2839451" y="5359803"/>
            <a:ext cx="978408" cy="484632"/>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3076" name="Picture 4" descr="Sql - Free electronics icons">
            <a:extLst>
              <a:ext uri="{FF2B5EF4-FFF2-40B4-BE49-F238E27FC236}">
                <a16:creationId xmlns:a16="http://schemas.microsoft.com/office/drawing/2014/main" id="{E62ABDD1-C333-E348-679B-35A4A8C55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8203" y="5236143"/>
            <a:ext cx="1170631" cy="94082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Striped Right 5">
            <a:extLst>
              <a:ext uri="{FF2B5EF4-FFF2-40B4-BE49-F238E27FC236}">
                <a16:creationId xmlns:a16="http://schemas.microsoft.com/office/drawing/2014/main" id="{D975E7A8-76DF-58D6-FF1E-DF15E3AC74F8}"/>
              </a:ext>
            </a:extLst>
          </p:cNvPr>
          <p:cNvSpPr/>
          <p:nvPr/>
        </p:nvSpPr>
        <p:spPr>
          <a:xfrm>
            <a:off x="5767069" y="5374024"/>
            <a:ext cx="978408" cy="484632"/>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3078" name="Picture 6" descr="Tableau Vector SVG Icon - SVG Repo">
            <a:extLst>
              <a:ext uri="{FF2B5EF4-FFF2-40B4-BE49-F238E27FC236}">
                <a16:creationId xmlns:a16="http://schemas.microsoft.com/office/drawing/2014/main" id="{34B2CA1A-A02A-7A52-C2F4-5770E4099A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8549" y="4930219"/>
            <a:ext cx="1484683" cy="1470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772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10774-CEE3-F7F6-A0F4-9AC15E95986E}"/>
              </a:ext>
            </a:extLst>
          </p:cNvPr>
          <p:cNvSpPr>
            <a:spLocks noGrp="1"/>
          </p:cNvSpPr>
          <p:nvPr>
            <p:ph type="title" idx="4294967295"/>
          </p:nvPr>
        </p:nvSpPr>
        <p:spPr>
          <a:xfrm>
            <a:off x="0" y="252004"/>
            <a:ext cx="10515600" cy="652970"/>
          </a:xfrm>
        </p:spPr>
        <p:txBody>
          <a:bodyPr>
            <a:normAutofit/>
          </a:bodyPr>
          <a:lstStyle/>
          <a:p>
            <a:pPr algn="ctr"/>
            <a:r>
              <a:rPr lang="en-GB" sz="3600" dirty="0">
                <a:latin typeface="Segoe UI Semibold" panose="020B0702040204020203" pitchFamily="34" charset="0"/>
                <a:cs typeface="Segoe UI Semibold" panose="020B0702040204020203" pitchFamily="34" charset="0"/>
              </a:rPr>
              <a:t>Key Performance Indicators (KPIs)</a:t>
            </a:r>
          </a:p>
        </p:txBody>
      </p:sp>
      <p:sp>
        <p:nvSpPr>
          <p:cNvPr id="3" name="Rectangle: Rounded Corners 2">
            <a:extLst>
              <a:ext uri="{FF2B5EF4-FFF2-40B4-BE49-F238E27FC236}">
                <a16:creationId xmlns:a16="http://schemas.microsoft.com/office/drawing/2014/main" id="{922823A4-6F4E-8468-56CF-1095FCD15C83}"/>
              </a:ext>
            </a:extLst>
          </p:cNvPr>
          <p:cNvSpPr/>
          <p:nvPr/>
        </p:nvSpPr>
        <p:spPr>
          <a:xfrm>
            <a:off x="1298594" y="1381760"/>
            <a:ext cx="3781406" cy="1625600"/>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                Total Revenue</a:t>
            </a:r>
          </a:p>
          <a:p>
            <a:pPr algn="ctr"/>
            <a:r>
              <a:rPr lang="en-GB" sz="2000" dirty="0"/>
              <a:t>              $8.45M</a:t>
            </a:r>
          </a:p>
        </p:txBody>
      </p:sp>
      <p:sp>
        <p:nvSpPr>
          <p:cNvPr id="13" name="Rectangle: Rounded Corners 12">
            <a:extLst>
              <a:ext uri="{FF2B5EF4-FFF2-40B4-BE49-F238E27FC236}">
                <a16:creationId xmlns:a16="http://schemas.microsoft.com/office/drawing/2014/main" id="{4FDEDDA9-213A-7B00-154D-7C75A9A87EFC}"/>
              </a:ext>
            </a:extLst>
          </p:cNvPr>
          <p:cNvSpPr/>
          <p:nvPr/>
        </p:nvSpPr>
        <p:spPr>
          <a:xfrm>
            <a:off x="7112000" y="1381760"/>
            <a:ext cx="3781406" cy="1625600"/>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r>
              <a:rPr lang="en-GB" sz="2000" dirty="0"/>
              <a:t>Total Customers</a:t>
            </a:r>
          </a:p>
          <a:p>
            <a:pPr algn="ctr"/>
            <a:r>
              <a:rPr lang="en-GB" dirty="0"/>
              <a:t>                     51,607</a:t>
            </a:r>
          </a:p>
        </p:txBody>
      </p:sp>
      <p:sp>
        <p:nvSpPr>
          <p:cNvPr id="14" name="Rectangle: Rounded Corners 13">
            <a:extLst>
              <a:ext uri="{FF2B5EF4-FFF2-40B4-BE49-F238E27FC236}">
                <a16:creationId xmlns:a16="http://schemas.microsoft.com/office/drawing/2014/main" id="{F19EAC1A-A4FD-F5A6-B746-B83249A6F45D}"/>
              </a:ext>
            </a:extLst>
          </p:cNvPr>
          <p:cNvSpPr/>
          <p:nvPr/>
        </p:nvSpPr>
        <p:spPr>
          <a:xfrm>
            <a:off x="1298594" y="3698240"/>
            <a:ext cx="3781406" cy="1625600"/>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r>
              <a:rPr lang="en-GB" sz="2000" dirty="0"/>
              <a:t>Average Order Value</a:t>
            </a:r>
          </a:p>
          <a:p>
            <a:pPr algn="ctr"/>
            <a:r>
              <a:rPr lang="en-GB" dirty="0"/>
              <a:t>              $136.8</a:t>
            </a:r>
          </a:p>
        </p:txBody>
      </p:sp>
      <p:sp>
        <p:nvSpPr>
          <p:cNvPr id="15" name="Rectangle: Rounded Corners 14">
            <a:extLst>
              <a:ext uri="{FF2B5EF4-FFF2-40B4-BE49-F238E27FC236}">
                <a16:creationId xmlns:a16="http://schemas.microsoft.com/office/drawing/2014/main" id="{3BDFF27C-1D22-B844-5E7F-315DC168895C}"/>
              </a:ext>
            </a:extLst>
          </p:cNvPr>
          <p:cNvSpPr/>
          <p:nvPr/>
        </p:nvSpPr>
        <p:spPr>
          <a:xfrm>
            <a:off x="7112000" y="3741578"/>
            <a:ext cx="3781406" cy="1582262"/>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r>
              <a:rPr lang="en-GB" sz="2000" dirty="0"/>
              <a:t>Average Review Score</a:t>
            </a:r>
          </a:p>
          <a:p>
            <a:pPr algn="ctr"/>
            <a:r>
              <a:rPr lang="en-GB" dirty="0"/>
              <a:t>4.14</a:t>
            </a:r>
          </a:p>
        </p:txBody>
      </p:sp>
      <p:pic>
        <p:nvPicPr>
          <p:cNvPr id="23" name="Picture 22">
            <a:extLst>
              <a:ext uri="{FF2B5EF4-FFF2-40B4-BE49-F238E27FC236}">
                <a16:creationId xmlns:a16="http://schemas.microsoft.com/office/drawing/2014/main" id="{F076FF5C-1297-4AEA-4D85-F0580DD847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5425" y="1807789"/>
            <a:ext cx="1137615" cy="1027542"/>
          </a:xfrm>
          <a:prstGeom prst="rect">
            <a:avLst/>
          </a:prstGeom>
        </p:spPr>
      </p:pic>
      <p:pic>
        <p:nvPicPr>
          <p:cNvPr id="25" name="Picture 24">
            <a:extLst>
              <a:ext uri="{FF2B5EF4-FFF2-40B4-BE49-F238E27FC236}">
                <a16:creationId xmlns:a16="http://schemas.microsoft.com/office/drawing/2014/main" id="{2509211B-34ED-D514-4811-BB39FE8288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15505" y="1807789"/>
            <a:ext cx="1208735" cy="896846"/>
          </a:xfrm>
          <a:prstGeom prst="rect">
            <a:avLst/>
          </a:prstGeom>
        </p:spPr>
      </p:pic>
      <p:pic>
        <p:nvPicPr>
          <p:cNvPr id="29" name="Picture 28">
            <a:extLst>
              <a:ext uri="{FF2B5EF4-FFF2-40B4-BE49-F238E27FC236}">
                <a16:creationId xmlns:a16="http://schemas.microsoft.com/office/drawing/2014/main" id="{931295E6-EF37-A14F-3812-84B9F447F0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52539" y="4010818"/>
            <a:ext cx="1158581" cy="1030924"/>
          </a:xfrm>
          <a:prstGeom prst="rect">
            <a:avLst/>
          </a:prstGeom>
        </p:spPr>
      </p:pic>
      <p:pic>
        <p:nvPicPr>
          <p:cNvPr id="31" name="Picture 30">
            <a:extLst>
              <a:ext uri="{FF2B5EF4-FFF2-40B4-BE49-F238E27FC236}">
                <a16:creationId xmlns:a16="http://schemas.microsoft.com/office/drawing/2014/main" id="{6F68D732-24B4-3BD3-F71D-0F6995A3A3CB}"/>
              </a:ext>
            </a:extLst>
          </p:cNvPr>
          <p:cNvPicPr>
            <a:picLocks noChangeAspect="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7548919" y="4023360"/>
            <a:ext cx="741905" cy="1056640"/>
          </a:xfrm>
          <a:prstGeom prst="rect">
            <a:avLst/>
          </a:prstGeom>
        </p:spPr>
      </p:pic>
      <p:sp>
        <p:nvSpPr>
          <p:cNvPr id="32" name="TextBox 31">
            <a:extLst>
              <a:ext uri="{FF2B5EF4-FFF2-40B4-BE49-F238E27FC236}">
                <a16:creationId xmlns:a16="http://schemas.microsoft.com/office/drawing/2014/main" id="{68722FCE-B39E-1AB3-9714-40C50F595201}"/>
              </a:ext>
            </a:extLst>
          </p:cNvPr>
          <p:cNvSpPr txBox="1"/>
          <p:nvPr/>
        </p:nvSpPr>
        <p:spPr>
          <a:xfrm>
            <a:off x="990600" y="5657671"/>
            <a:ext cx="10210800" cy="1200329"/>
          </a:xfrm>
          <a:prstGeom prst="rect">
            <a:avLst/>
          </a:prstGeom>
          <a:noFill/>
        </p:spPr>
        <p:txBody>
          <a:bodyPr wrap="square" rtlCol="0">
            <a:spAutoFit/>
          </a:bodyPr>
          <a:lstStyle/>
          <a:p>
            <a:r>
              <a:rPr lang="en-GB" dirty="0"/>
              <a:t>To measure business performance, I focused on core KPIs that reflect profitability, customer </a:t>
            </a:r>
            <a:r>
              <a:rPr lang="en-GB" dirty="0" err="1"/>
              <a:t>behavior</a:t>
            </a:r>
            <a:r>
              <a:rPr lang="en-GB" dirty="0"/>
              <a:t>, and service quality.</a:t>
            </a:r>
            <a:br>
              <a:rPr lang="en-GB" dirty="0"/>
            </a:br>
            <a:r>
              <a:rPr lang="en-GB" dirty="0"/>
              <a:t>These metrics gave a balanced view of how well the business was performing — not just in terms of sales, but also customer satisfaction.</a:t>
            </a:r>
          </a:p>
        </p:txBody>
      </p:sp>
    </p:spTree>
    <p:extLst>
      <p:ext uri="{BB962C8B-B14F-4D97-AF65-F5344CB8AC3E}">
        <p14:creationId xmlns:p14="http://schemas.microsoft.com/office/powerpoint/2010/main" val="1875767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965640-F781-ADDA-9D1F-F8FD098E44F0}"/>
              </a:ext>
            </a:extLst>
          </p:cNvPr>
          <p:cNvSpPr txBox="1"/>
          <p:nvPr/>
        </p:nvSpPr>
        <p:spPr>
          <a:xfrm>
            <a:off x="2572542" y="320510"/>
            <a:ext cx="7750841" cy="646331"/>
          </a:xfrm>
          <a:prstGeom prst="rect">
            <a:avLst/>
          </a:prstGeom>
          <a:noFill/>
        </p:spPr>
        <p:txBody>
          <a:bodyPr wrap="none" rtlCol="0">
            <a:spAutoFit/>
          </a:bodyPr>
          <a:lstStyle/>
          <a:p>
            <a:pPr algn="ctr"/>
            <a:r>
              <a:rPr lang="en-GB" sz="3600" dirty="0">
                <a:latin typeface="Segoe UI Semibold" panose="020B0702040204020203" pitchFamily="34" charset="0"/>
                <a:ea typeface="+mj-ea"/>
                <a:cs typeface="Segoe UI Semibold" panose="020B0702040204020203" pitchFamily="34" charset="0"/>
              </a:rPr>
              <a:t>How</a:t>
            </a:r>
            <a:r>
              <a:rPr lang="en-GB" dirty="0"/>
              <a:t> </a:t>
            </a:r>
            <a:r>
              <a:rPr lang="en-GB" sz="3600" dirty="0">
                <a:latin typeface="Segoe UI Semibold" panose="020B0702040204020203" pitchFamily="34" charset="0"/>
                <a:ea typeface="+mj-ea"/>
                <a:cs typeface="Segoe UI Semibold" panose="020B0702040204020203" pitchFamily="34" charset="0"/>
              </a:rPr>
              <a:t>has</a:t>
            </a:r>
            <a:r>
              <a:rPr lang="en-GB" dirty="0"/>
              <a:t> </a:t>
            </a:r>
            <a:r>
              <a:rPr lang="en-GB" sz="3600" dirty="0">
                <a:latin typeface="Segoe UI Semibold" panose="020B0702040204020203" pitchFamily="34" charset="0"/>
                <a:ea typeface="+mj-ea"/>
                <a:cs typeface="Segoe UI Semibold" panose="020B0702040204020203" pitchFamily="34" charset="0"/>
              </a:rPr>
              <a:t>revenue</a:t>
            </a:r>
            <a:r>
              <a:rPr lang="en-GB" dirty="0"/>
              <a:t> </a:t>
            </a:r>
            <a:r>
              <a:rPr lang="en-GB" sz="3600" dirty="0">
                <a:latin typeface="Segoe UI Semibold" panose="020B0702040204020203" pitchFamily="34" charset="0"/>
                <a:ea typeface="+mj-ea"/>
                <a:cs typeface="Segoe UI Semibold" panose="020B0702040204020203" pitchFamily="34" charset="0"/>
              </a:rPr>
              <a:t>changed</a:t>
            </a:r>
            <a:r>
              <a:rPr lang="en-GB" dirty="0"/>
              <a:t> </a:t>
            </a:r>
            <a:r>
              <a:rPr lang="en-GB" sz="3600" dirty="0">
                <a:latin typeface="Segoe UI Semibold" panose="020B0702040204020203" pitchFamily="34" charset="0"/>
                <a:ea typeface="+mj-ea"/>
                <a:cs typeface="Segoe UI Semibold" panose="020B0702040204020203" pitchFamily="34" charset="0"/>
              </a:rPr>
              <a:t>over</a:t>
            </a:r>
            <a:r>
              <a:rPr lang="en-GB" dirty="0"/>
              <a:t> </a:t>
            </a:r>
            <a:r>
              <a:rPr lang="en-GB" sz="3600" dirty="0">
                <a:latin typeface="Segoe UI Semibold" panose="020B0702040204020203" pitchFamily="34" charset="0"/>
                <a:ea typeface="+mj-ea"/>
                <a:cs typeface="Segoe UI Semibold" panose="020B0702040204020203" pitchFamily="34" charset="0"/>
              </a:rPr>
              <a:t>time?</a:t>
            </a:r>
            <a:endParaRPr lang="en-GB" dirty="0"/>
          </a:p>
        </p:txBody>
      </p:sp>
      <p:pic>
        <p:nvPicPr>
          <p:cNvPr id="4" name="Picture 3">
            <a:extLst>
              <a:ext uri="{FF2B5EF4-FFF2-40B4-BE49-F238E27FC236}">
                <a16:creationId xmlns:a16="http://schemas.microsoft.com/office/drawing/2014/main" id="{41EDFE15-F7F2-444B-FC2D-76145DD29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0735" y="966841"/>
            <a:ext cx="9250530" cy="3157980"/>
          </a:xfrm>
          <a:prstGeom prst="rect">
            <a:avLst/>
          </a:prstGeom>
        </p:spPr>
      </p:pic>
      <p:sp>
        <p:nvSpPr>
          <p:cNvPr id="5" name="Rectangle: Rounded Corners 4">
            <a:extLst>
              <a:ext uri="{FF2B5EF4-FFF2-40B4-BE49-F238E27FC236}">
                <a16:creationId xmlns:a16="http://schemas.microsoft.com/office/drawing/2014/main" id="{7506DBEA-A66F-7092-692C-C9315B67BCD0}"/>
              </a:ext>
            </a:extLst>
          </p:cNvPr>
          <p:cNvSpPr/>
          <p:nvPr/>
        </p:nvSpPr>
        <p:spPr>
          <a:xfrm>
            <a:off x="1677971" y="4308049"/>
            <a:ext cx="9250530" cy="2229441"/>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dirty="0"/>
              <a:t>Revenue peaked in 2018 with strong monthly growth consistency.</a:t>
            </a:r>
          </a:p>
          <a:p>
            <a:pPr marL="285750" indent="-285750">
              <a:buFont typeface="Arial" panose="020B0604020202020204" pitchFamily="34" charset="0"/>
              <a:buChar char="•"/>
            </a:pPr>
            <a:r>
              <a:rPr lang="en-GB" dirty="0"/>
              <a:t>The overall upward trend suggests increasing customer demand and effective sales performance.</a:t>
            </a:r>
          </a:p>
          <a:p>
            <a:pPr marL="285750" indent="-285750">
              <a:buFont typeface="Arial" panose="020B0604020202020204" pitchFamily="34" charset="0"/>
              <a:buChar char="•"/>
            </a:pPr>
            <a:r>
              <a:rPr lang="en-GB" dirty="0"/>
              <a:t>2016 was limited, but 2017–2018 show stable scaling.</a:t>
            </a:r>
          </a:p>
          <a:p>
            <a:pPr algn="ctr"/>
            <a:endParaRPr lang="en-GB" dirty="0"/>
          </a:p>
        </p:txBody>
      </p:sp>
    </p:spTree>
    <p:extLst>
      <p:ext uri="{BB962C8B-B14F-4D97-AF65-F5344CB8AC3E}">
        <p14:creationId xmlns:p14="http://schemas.microsoft.com/office/powerpoint/2010/main" val="3491383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623789-34B1-709C-7FB0-CED7DBCCF8F9}"/>
              </a:ext>
            </a:extLst>
          </p:cNvPr>
          <p:cNvSpPr txBox="1"/>
          <p:nvPr/>
        </p:nvSpPr>
        <p:spPr>
          <a:xfrm>
            <a:off x="1813494" y="386498"/>
            <a:ext cx="8707192" cy="646331"/>
          </a:xfrm>
          <a:prstGeom prst="rect">
            <a:avLst/>
          </a:prstGeom>
          <a:noFill/>
        </p:spPr>
        <p:txBody>
          <a:bodyPr wrap="none" rtlCol="0">
            <a:spAutoFit/>
          </a:bodyPr>
          <a:lstStyle/>
          <a:p>
            <a:pPr algn="ctr"/>
            <a:r>
              <a:rPr lang="en-US" sz="3600" dirty="0">
                <a:latin typeface="Segoe UI Semibold" panose="020B0702040204020203" pitchFamily="34" charset="0"/>
                <a:ea typeface="+mj-ea"/>
                <a:cs typeface="Segoe UI Semibold" panose="020B0702040204020203" pitchFamily="34" charset="0"/>
              </a:rPr>
              <a:t>Are</a:t>
            </a:r>
            <a:r>
              <a:rPr lang="en-US" dirty="0"/>
              <a:t> </a:t>
            </a:r>
            <a:r>
              <a:rPr lang="en-US" sz="3600" dirty="0">
                <a:latin typeface="Segoe UI Semibold" panose="020B0702040204020203" pitchFamily="34" charset="0"/>
                <a:ea typeface="+mj-ea"/>
                <a:cs typeface="Segoe UI Semibold" panose="020B0702040204020203" pitchFamily="34" charset="0"/>
              </a:rPr>
              <a:t>we</a:t>
            </a:r>
            <a:r>
              <a:rPr lang="en-US" dirty="0"/>
              <a:t> </a:t>
            </a:r>
            <a:r>
              <a:rPr lang="en-US" sz="3600" dirty="0">
                <a:latin typeface="Segoe UI Semibold" panose="020B0702040204020203" pitchFamily="34" charset="0"/>
                <a:ea typeface="+mj-ea"/>
                <a:cs typeface="Segoe UI Semibold" panose="020B0702040204020203" pitchFamily="34" charset="0"/>
              </a:rPr>
              <a:t>gaining</a:t>
            </a:r>
            <a:r>
              <a:rPr lang="en-US" dirty="0"/>
              <a:t> </a:t>
            </a:r>
            <a:r>
              <a:rPr lang="en-US" sz="3600" dirty="0">
                <a:latin typeface="Segoe UI Semibold" panose="020B0702040204020203" pitchFamily="34" charset="0"/>
                <a:ea typeface="+mj-ea"/>
                <a:cs typeface="Segoe UI Semibold" panose="020B0702040204020203" pitchFamily="34" charset="0"/>
              </a:rPr>
              <a:t>more</a:t>
            </a:r>
            <a:r>
              <a:rPr lang="en-US" dirty="0"/>
              <a:t> </a:t>
            </a:r>
            <a:r>
              <a:rPr lang="en-US" sz="3600" dirty="0">
                <a:latin typeface="Segoe UI Semibold" panose="020B0702040204020203" pitchFamily="34" charset="0"/>
                <a:ea typeface="+mj-ea"/>
                <a:cs typeface="Segoe UI Semibold" panose="020B0702040204020203" pitchFamily="34" charset="0"/>
              </a:rPr>
              <a:t>customers</a:t>
            </a:r>
            <a:r>
              <a:rPr lang="en-US" dirty="0"/>
              <a:t> </a:t>
            </a:r>
            <a:r>
              <a:rPr lang="en-US" sz="3600" dirty="0">
                <a:latin typeface="Segoe UI Semibold" panose="020B0702040204020203" pitchFamily="34" charset="0"/>
                <a:ea typeface="+mj-ea"/>
                <a:cs typeface="Segoe UI Semibold" panose="020B0702040204020203" pitchFamily="34" charset="0"/>
              </a:rPr>
              <a:t>each</a:t>
            </a:r>
            <a:r>
              <a:rPr lang="en-US" dirty="0"/>
              <a:t> </a:t>
            </a:r>
            <a:r>
              <a:rPr lang="en-US" sz="3600" dirty="0">
                <a:latin typeface="Segoe UI Semibold" panose="020B0702040204020203" pitchFamily="34" charset="0"/>
                <a:ea typeface="+mj-ea"/>
                <a:cs typeface="Segoe UI Semibold" panose="020B0702040204020203" pitchFamily="34" charset="0"/>
              </a:rPr>
              <a:t>year?</a:t>
            </a:r>
            <a:endParaRPr lang="en-GB" dirty="0"/>
          </a:p>
        </p:txBody>
      </p:sp>
      <p:pic>
        <p:nvPicPr>
          <p:cNvPr id="4" name="Picture 3">
            <a:extLst>
              <a:ext uri="{FF2B5EF4-FFF2-40B4-BE49-F238E27FC236}">
                <a16:creationId xmlns:a16="http://schemas.microsoft.com/office/drawing/2014/main" id="{ECCA4AE7-2F89-FB82-0725-2CEF2F61D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7142" y="1329179"/>
            <a:ext cx="9304256" cy="2724347"/>
          </a:xfrm>
          <a:prstGeom prst="rect">
            <a:avLst/>
          </a:prstGeom>
        </p:spPr>
      </p:pic>
      <p:sp>
        <p:nvSpPr>
          <p:cNvPr id="5" name="TextBox 4">
            <a:extLst>
              <a:ext uri="{FF2B5EF4-FFF2-40B4-BE49-F238E27FC236}">
                <a16:creationId xmlns:a16="http://schemas.microsoft.com/office/drawing/2014/main" id="{556886A8-EB7B-441C-DFCE-DBF586A7A373}"/>
              </a:ext>
            </a:extLst>
          </p:cNvPr>
          <p:cNvSpPr txBox="1"/>
          <p:nvPr/>
        </p:nvSpPr>
        <p:spPr>
          <a:xfrm>
            <a:off x="1376312" y="4378157"/>
            <a:ext cx="10096107" cy="923330"/>
          </a:xfrm>
          <a:prstGeom prst="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285750" indent="-285750">
              <a:buFont typeface="Arial" panose="020B0604020202020204" pitchFamily="34" charset="0"/>
              <a:buChar cha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Unique customers increased significantly between 2016 and 2018.</a:t>
            </a:r>
          </a:p>
          <a:p>
            <a:r>
              <a:rPr lang="en-GB" dirty="0"/>
              <a:t>2017 shows the largest jump (over 15,563.20% increase).</a:t>
            </a:r>
          </a:p>
          <a:p>
            <a:r>
              <a:rPr lang="en-GB" dirty="0"/>
              <a:t>This indicates growing market penetration and brand awareness.</a:t>
            </a:r>
          </a:p>
        </p:txBody>
      </p:sp>
    </p:spTree>
    <p:extLst>
      <p:ext uri="{BB962C8B-B14F-4D97-AF65-F5344CB8AC3E}">
        <p14:creationId xmlns:p14="http://schemas.microsoft.com/office/powerpoint/2010/main" val="3573287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2D4AC2-AA25-5D82-8A31-019D61D6D597}"/>
              </a:ext>
            </a:extLst>
          </p:cNvPr>
          <p:cNvSpPr txBox="1"/>
          <p:nvPr/>
        </p:nvSpPr>
        <p:spPr>
          <a:xfrm>
            <a:off x="1376086" y="178613"/>
            <a:ext cx="9439828" cy="646331"/>
          </a:xfrm>
          <a:prstGeom prst="rect">
            <a:avLst/>
          </a:prstGeom>
          <a:noFill/>
        </p:spPr>
        <p:txBody>
          <a:bodyPr wrap="none" rtlCol="0">
            <a:spAutoFit/>
          </a:bodyPr>
          <a:lstStyle/>
          <a:p>
            <a:pPr algn="ctr"/>
            <a:r>
              <a:rPr lang="en-US" sz="3600" dirty="0">
                <a:latin typeface="Segoe UI Semibold" panose="020B0702040204020203" pitchFamily="34" charset="0"/>
                <a:ea typeface="+mj-ea"/>
                <a:cs typeface="Segoe UI Semibold" panose="020B0702040204020203" pitchFamily="34" charset="0"/>
              </a:rPr>
              <a:t>How</a:t>
            </a:r>
            <a:r>
              <a:rPr lang="en-US" dirty="0"/>
              <a:t> </a:t>
            </a:r>
            <a:r>
              <a:rPr lang="en-US" sz="3600" dirty="0">
                <a:latin typeface="Segoe UI Semibold" panose="020B0702040204020203" pitchFamily="34" charset="0"/>
                <a:ea typeface="+mj-ea"/>
                <a:cs typeface="Segoe UI Semibold" panose="020B0702040204020203" pitchFamily="34" charset="0"/>
              </a:rPr>
              <a:t>many</a:t>
            </a:r>
            <a:r>
              <a:rPr lang="en-US" dirty="0"/>
              <a:t> </a:t>
            </a:r>
            <a:r>
              <a:rPr lang="en-US" sz="3600" dirty="0">
                <a:latin typeface="Segoe UI Semibold" panose="020B0702040204020203" pitchFamily="34" charset="0"/>
                <a:ea typeface="+mj-ea"/>
                <a:cs typeface="Segoe UI Semibold" panose="020B0702040204020203" pitchFamily="34" charset="0"/>
              </a:rPr>
              <a:t>customers</a:t>
            </a:r>
            <a:r>
              <a:rPr lang="en-US" dirty="0"/>
              <a:t> </a:t>
            </a:r>
            <a:r>
              <a:rPr lang="en-US" sz="3600" dirty="0">
                <a:latin typeface="Segoe UI Semibold" panose="020B0702040204020203" pitchFamily="34" charset="0"/>
                <a:ea typeface="+mj-ea"/>
                <a:cs typeface="Segoe UI Semibold" panose="020B0702040204020203" pitchFamily="34" charset="0"/>
              </a:rPr>
              <a:t>return</a:t>
            </a:r>
            <a:r>
              <a:rPr lang="en-US" dirty="0"/>
              <a:t> </a:t>
            </a:r>
            <a:r>
              <a:rPr lang="en-US" sz="3600" dirty="0">
                <a:latin typeface="Segoe UI Semibold" panose="020B0702040204020203" pitchFamily="34" charset="0"/>
                <a:ea typeface="+mj-ea"/>
                <a:cs typeface="Segoe UI Semibold" panose="020B0702040204020203" pitchFamily="34" charset="0"/>
              </a:rPr>
              <a:t>vs</a:t>
            </a:r>
            <a:r>
              <a:rPr lang="en-US" dirty="0"/>
              <a:t> </a:t>
            </a:r>
            <a:r>
              <a:rPr lang="en-US" sz="3600" dirty="0">
                <a:latin typeface="Segoe UI Semibold" panose="020B0702040204020203" pitchFamily="34" charset="0"/>
                <a:ea typeface="+mj-ea"/>
                <a:cs typeface="Segoe UI Semibold" panose="020B0702040204020203" pitchFamily="34" charset="0"/>
              </a:rPr>
              <a:t>buy</a:t>
            </a:r>
            <a:r>
              <a:rPr lang="en-US" dirty="0"/>
              <a:t> </a:t>
            </a:r>
            <a:r>
              <a:rPr lang="en-US" sz="3600" dirty="0">
                <a:latin typeface="Segoe UI Semibold" panose="020B0702040204020203" pitchFamily="34" charset="0"/>
                <a:ea typeface="+mj-ea"/>
                <a:cs typeface="Segoe UI Semibold" panose="020B0702040204020203" pitchFamily="34" charset="0"/>
              </a:rPr>
              <a:t>only</a:t>
            </a:r>
            <a:r>
              <a:rPr lang="en-US" dirty="0"/>
              <a:t> </a:t>
            </a:r>
            <a:r>
              <a:rPr lang="en-US" sz="3600" dirty="0">
                <a:latin typeface="Segoe UI Semibold" panose="020B0702040204020203" pitchFamily="34" charset="0"/>
                <a:ea typeface="+mj-ea"/>
                <a:cs typeface="Segoe UI Semibold" panose="020B0702040204020203" pitchFamily="34" charset="0"/>
              </a:rPr>
              <a:t>once?</a:t>
            </a:r>
            <a:endParaRPr lang="en-GB" dirty="0"/>
          </a:p>
        </p:txBody>
      </p:sp>
      <p:pic>
        <p:nvPicPr>
          <p:cNvPr id="6" name="Picture 5">
            <a:extLst>
              <a:ext uri="{FF2B5EF4-FFF2-40B4-BE49-F238E27FC236}">
                <a16:creationId xmlns:a16="http://schemas.microsoft.com/office/drawing/2014/main" id="{14C998F0-D224-F6BE-1B78-748AB59DB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567" y="1234912"/>
            <a:ext cx="7767688" cy="3459636"/>
          </a:xfrm>
          <a:prstGeom prst="rect">
            <a:avLst/>
          </a:prstGeom>
        </p:spPr>
      </p:pic>
      <p:sp>
        <p:nvSpPr>
          <p:cNvPr id="7" name="TextBox 6">
            <a:extLst>
              <a:ext uri="{FF2B5EF4-FFF2-40B4-BE49-F238E27FC236}">
                <a16:creationId xmlns:a16="http://schemas.microsoft.com/office/drawing/2014/main" id="{F565ED11-A96E-317E-179E-F6A9E6BD1910}"/>
              </a:ext>
            </a:extLst>
          </p:cNvPr>
          <p:cNvSpPr txBox="1"/>
          <p:nvPr/>
        </p:nvSpPr>
        <p:spPr>
          <a:xfrm>
            <a:off x="1998482" y="5033913"/>
            <a:ext cx="9219415" cy="1200329"/>
          </a:xfrm>
          <a:prstGeom prst="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285750" indent="-285750">
              <a:buFont typeface="Arial" panose="020B0604020202020204" pitchFamily="34" charset="0"/>
              <a:buChar cha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Majority are one-time buyers (95.83%).</a:t>
            </a:r>
          </a:p>
          <a:p>
            <a:r>
              <a:rPr lang="en-GB" dirty="0"/>
              <a:t>Returning customers are still a small percentage (4.17%).</a:t>
            </a:r>
          </a:p>
          <a:p>
            <a:r>
              <a:rPr lang="en-GB" dirty="0"/>
              <a:t>Opportunity exists to improve retention strategies (discounts, loyalty programs, faster delivery).</a:t>
            </a:r>
          </a:p>
        </p:txBody>
      </p:sp>
    </p:spTree>
    <p:extLst>
      <p:ext uri="{BB962C8B-B14F-4D97-AF65-F5344CB8AC3E}">
        <p14:creationId xmlns:p14="http://schemas.microsoft.com/office/powerpoint/2010/main" val="3863508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A49453-BAA2-8CFB-630E-B6F011BFD4D2}"/>
              </a:ext>
            </a:extLst>
          </p:cNvPr>
          <p:cNvSpPr txBox="1"/>
          <p:nvPr/>
        </p:nvSpPr>
        <p:spPr>
          <a:xfrm>
            <a:off x="-1222409" y="186651"/>
            <a:ext cx="15206380" cy="461665"/>
          </a:xfrm>
          <a:prstGeom prst="rect">
            <a:avLst/>
          </a:prstGeom>
          <a:noFill/>
        </p:spPr>
        <p:txBody>
          <a:bodyPr wrap="square" rtlCol="0">
            <a:spAutoFit/>
          </a:bodyPr>
          <a:lstStyle/>
          <a:p>
            <a:pPr algn="ctr"/>
            <a:r>
              <a:rPr lang="en-GB" sz="2400" dirty="0">
                <a:latin typeface="Segoe UI Semibold" panose="020B0702040204020203" pitchFamily="34" charset="0"/>
                <a:ea typeface="+mj-ea"/>
                <a:cs typeface="Segoe UI Semibold" panose="020B0702040204020203" pitchFamily="34" charset="0"/>
              </a:rPr>
              <a:t>Is</a:t>
            </a:r>
            <a:r>
              <a:rPr lang="en-GB" sz="2400" dirty="0"/>
              <a:t> </a:t>
            </a:r>
            <a:r>
              <a:rPr lang="en-GB" sz="2400" dirty="0">
                <a:latin typeface="Segoe UI Semibold" panose="020B0702040204020203" pitchFamily="34" charset="0"/>
                <a:ea typeface="+mj-ea"/>
                <a:cs typeface="Segoe UI Semibold" panose="020B0702040204020203" pitchFamily="34" charset="0"/>
              </a:rPr>
              <a:t>delivery</a:t>
            </a:r>
            <a:r>
              <a:rPr lang="en-GB" sz="2400" dirty="0"/>
              <a:t> </a:t>
            </a:r>
            <a:r>
              <a:rPr lang="en-GB" sz="2400" dirty="0">
                <a:latin typeface="Segoe UI Semibold" panose="020B0702040204020203" pitchFamily="34" charset="0"/>
                <a:ea typeface="+mj-ea"/>
                <a:cs typeface="Segoe UI Semibold" panose="020B0702040204020203" pitchFamily="34" charset="0"/>
              </a:rPr>
              <a:t>speed</a:t>
            </a:r>
            <a:r>
              <a:rPr lang="en-GB" sz="2400" dirty="0"/>
              <a:t> </a:t>
            </a:r>
            <a:r>
              <a:rPr lang="en-GB" sz="2400" dirty="0">
                <a:latin typeface="Segoe UI Semibold" panose="020B0702040204020203" pitchFamily="34" charset="0"/>
                <a:ea typeface="+mj-ea"/>
                <a:cs typeface="Segoe UI Semibold" panose="020B0702040204020203" pitchFamily="34" charset="0"/>
              </a:rPr>
              <a:t>improving</a:t>
            </a:r>
            <a:r>
              <a:rPr lang="en-GB" sz="2400" dirty="0"/>
              <a:t> </a:t>
            </a:r>
            <a:r>
              <a:rPr lang="en-GB" sz="2400" dirty="0">
                <a:latin typeface="Segoe UI Semibold" panose="020B0702040204020203" pitchFamily="34" charset="0"/>
                <a:ea typeface="+mj-ea"/>
                <a:cs typeface="Segoe UI Semibold" panose="020B0702040204020203" pitchFamily="34" charset="0"/>
              </a:rPr>
              <a:t>over</a:t>
            </a:r>
            <a:r>
              <a:rPr lang="en-GB" sz="2400" dirty="0"/>
              <a:t> </a:t>
            </a:r>
            <a:r>
              <a:rPr lang="en-GB" sz="2400" dirty="0">
                <a:latin typeface="Segoe UI Semibold" panose="020B0702040204020203" pitchFamily="34" charset="0"/>
                <a:ea typeface="+mj-ea"/>
                <a:cs typeface="Segoe UI Semibold" panose="020B0702040204020203" pitchFamily="34" charset="0"/>
              </a:rPr>
              <a:t>the</a:t>
            </a:r>
            <a:r>
              <a:rPr lang="en-GB" sz="2400" dirty="0"/>
              <a:t> </a:t>
            </a:r>
            <a:r>
              <a:rPr lang="en-GB" sz="2400" dirty="0">
                <a:latin typeface="Segoe UI Semibold" panose="020B0702040204020203" pitchFamily="34" charset="0"/>
                <a:ea typeface="+mj-ea"/>
                <a:cs typeface="Segoe UI Semibold" panose="020B0702040204020203" pitchFamily="34" charset="0"/>
              </a:rPr>
              <a:t>years</a:t>
            </a:r>
            <a:r>
              <a:rPr lang="en-GB" sz="2400" dirty="0"/>
              <a:t> </a:t>
            </a:r>
            <a:r>
              <a:rPr lang="en-GB" sz="2400" dirty="0">
                <a:latin typeface="Segoe UI Semibold" panose="020B0702040204020203" pitchFamily="34" charset="0"/>
                <a:ea typeface="+mj-ea"/>
                <a:cs typeface="Segoe UI Semibold" panose="020B0702040204020203" pitchFamily="34" charset="0"/>
              </a:rPr>
              <a:t>and</a:t>
            </a:r>
            <a:r>
              <a:rPr lang="en-GB" sz="2400" dirty="0"/>
              <a:t> </a:t>
            </a:r>
            <a:r>
              <a:rPr lang="en-GB" sz="2400" dirty="0">
                <a:latin typeface="Segoe UI Semibold" panose="020B0702040204020203" pitchFamily="34" charset="0"/>
                <a:ea typeface="+mj-ea"/>
                <a:cs typeface="Segoe UI Semibold" panose="020B0702040204020203" pitchFamily="34" charset="0"/>
              </a:rPr>
              <a:t>does</a:t>
            </a:r>
            <a:r>
              <a:rPr lang="en-GB" sz="2400" dirty="0"/>
              <a:t> </a:t>
            </a:r>
            <a:r>
              <a:rPr lang="en-GB" sz="2400" dirty="0">
                <a:latin typeface="Segoe UI Semibold" panose="020B0702040204020203" pitchFamily="34" charset="0"/>
                <a:ea typeface="+mj-ea"/>
                <a:cs typeface="Segoe UI Semibold" panose="020B0702040204020203" pitchFamily="34" charset="0"/>
              </a:rPr>
              <a:t>it</a:t>
            </a:r>
            <a:r>
              <a:rPr lang="en-GB" sz="2400" dirty="0"/>
              <a:t> </a:t>
            </a:r>
            <a:r>
              <a:rPr lang="en-GB" sz="2400" dirty="0">
                <a:latin typeface="Segoe UI Semibold" panose="020B0702040204020203" pitchFamily="34" charset="0"/>
                <a:ea typeface="+mj-ea"/>
                <a:cs typeface="Segoe UI Semibold" panose="020B0702040204020203" pitchFamily="34" charset="0"/>
              </a:rPr>
              <a:t>improve</a:t>
            </a:r>
            <a:r>
              <a:rPr lang="en-GB" sz="2400" dirty="0"/>
              <a:t> </a:t>
            </a:r>
            <a:r>
              <a:rPr lang="en-GB" sz="2400" dirty="0">
                <a:latin typeface="Segoe UI Semibold" panose="020B0702040204020203" pitchFamily="34" charset="0"/>
                <a:ea typeface="+mj-ea"/>
                <a:cs typeface="Segoe UI Semibold" panose="020B0702040204020203" pitchFamily="34" charset="0"/>
              </a:rPr>
              <a:t>retention</a:t>
            </a:r>
            <a:r>
              <a:rPr lang="en-GB" sz="2400" dirty="0"/>
              <a:t> </a:t>
            </a:r>
            <a:r>
              <a:rPr lang="en-GB" sz="2400" dirty="0">
                <a:latin typeface="Segoe UI Semibold" panose="020B0702040204020203" pitchFamily="34" charset="0"/>
                <a:ea typeface="+mj-ea"/>
                <a:cs typeface="Segoe UI Semibold" panose="020B0702040204020203" pitchFamily="34" charset="0"/>
              </a:rPr>
              <a:t>rate?</a:t>
            </a:r>
            <a:endParaRPr lang="en-GB" sz="2400" dirty="0"/>
          </a:p>
        </p:txBody>
      </p:sp>
      <p:pic>
        <p:nvPicPr>
          <p:cNvPr id="4" name="Picture 3">
            <a:extLst>
              <a:ext uri="{FF2B5EF4-FFF2-40B4-BE49-F238E27FC236}">
                <a16:creationId xmlns:a16="http://schemas.microsoft.com/office/drawing/2014/main" id="{A9CFA4A9-0052-F10C-79EF-A6A612DE93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3192"/>
            <a:ext cx="12192000" cy="3695307"/>
          </a:xfrm>
          <a:prstGeom prst="rect">
            <a:avLst/>
          </a:prstGeom>
        </p:spPr>
      </p:pic>
      <p:sp>
        <p:nvSpPr>
          <p:cNvPr id="5" name="TextBox 4">
            <a:extLst>
              <a:ext uri="{FF2B5EF4-FFF2-40B4-BE49-F238E27FC236}">
                <a16:creationId xmlns:a16="http://schemas.microsoft.com/office/drawing/2014/main" id="{32D3133D-A440-F031-CE0C-54A9ABD2026A}"/>
              </a:ext>
            </a:extLst>
          </p:cNvPr>
          <p:cNvSpPr txBox="1"/>
          <p:nvPr/>
        </p:nvSpPr>
        <p:spPr>
          <a:xfrm>
            <a:off x="1068404" y="5197642"/>
            <a:ext cx="9521133" cy="1200329"/>
          </a:xfrm>
          <a:prstGeom prst="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285750" indent="-285750">
              <a:buFont typeface="Arial" panose="020B0604020202020204" pitchFamily="34" charset="0"/>
              <a:buChar cha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Average delivery days reduced from 19 days (2016) to 17 days (2018).</a:t>
            </a:r>
          </a:p>
          <a:p>
            <a:r>
              <a:rPr lang="en-GB" dirty="0"/>
              <a:t>Faster delivery aligns with higher customer retention, the more average delivery days decreased </a:t>
            </a:r>
          </a:p>
          <a:p>
            <a:r>
              <a:rPr lang="en-GB" dirty="0"/>
              <a:t>the more there are returning customers just as 2017 and 2018 shows.</a:t>
            </a:r>
          </a:p>
          <a:p>
            <a:endParaRPr lang="en-GB" dirty="0"/>
          </a:p>
        </p:txBody>
      </p:sp>
    </p:spTree>
    <p:extLst>
      <p:ext uri="{BB962C8B-B14F-4D97-AF65-F5344CB8AC3E}">
        <p14:creationId xmlns:p14="http://schemas.microsoft.com/office/powerpoint/2010/main" val="3914404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C32913-B114-0492-33AF-DB1B066E3B18}"/>
              </a:ext>
            </a:extLst>
          </p:cNvPr>
          <p:cNvSpPr txBox="1"/>
          <p:nvPr/>
        </p:nvSpPr>
        <p:spPr>
          <a:xfrm>
            <a:off x="1308570" y="129742"/>
            <a:ext cx="10055253" cy="646331"/>
          </a:xfrm>
          <a:prstGeom prst="rect">
            <a:avLst/>
          </a:prstGeom>
          <a:noFill/>
        </p:spPr>
        <p:txBody>
          <a:bodyPr wrap="none" rtlCol="0">
            <a:spAutoFit/>
          </a:bodyPr>
          <a:lstStyle/>
          <a:p>
            <a:r>
              <a:rPr lang="en-GB" sz="3600" dirty="0">
                <a:latin typeface="Segoe UI Semibold" panose="020B0702040204020203" pitchFamily="34" charset="0"/>
                <a:ea typeface="+mj-ea"/>
                <a:cs typeface="Segoe UI Semibold" panose="020B0702040204020203" pitchFamily="34" charset="0"/>
              </a:rPr>
              <a:t>Which</a:t>
            </a:r>
            <a:r>
              <a:rPr lang="en-GB" dirty="0"/>
              <a:t> </a:t>
            </a:r>
            <a:r>
              <a:rPr lang="en-GB" sz="3600" dirty="0">
                <a:latin typeface="Segoe UI Semibold" panose="020B0702040204020203" pitchFamily="34" charset="0"/>
                <a:ea typeface="+mj-ea"/>
                <a:cs typeface="Segoe UI Semibold" panose="020B0702040204020203" pitchFamily="34" charset="0"/>
              </a:rPr>
              <a:t>states</a:t>
            </a:r>
            <a:r>
              <a:rPr lang="en-GB" dirty="0"/>
              <a:t> </a:t>
            </a:r>
            <a:r>
              <a:rPr lang="en-GB" sz="3600" dirty="0">
                <a:latin typeface="Segoe UI Semibold" panose="020B0702040204020203" pitchFamily="34" charset="0"/>
                <a:ea typeface="+mj-ea"/>
                <a:cs typeface="Segoe UI Semibold" panose="020B0702040204020203" pitchFamily="34" charset="0"/>
              </a:rPr>
              <a:t>drive</a:t>
            </a:r>
            <a:r>
              <a:rPr lang="en-GB" dirty="0"/>
              <a:t> </a:t>
            </a:r>
            <a:r>
              <a:rPr lang="en-GB" sz="3600" dirty="0">
                <a:latin typeface="Segoe UI Semibold" panose="020B0702040204020203" pitchFamily="34" charset="0"/>
                <a:ea typeface="+mj-ea"/>
                <a:cs typeface="Segoe UI Semibold" panose="020B0702040204020203" pitchFamily="34" charset="0"/>
              </a:rPr>
              <a:t>the</a:t>
            </a:r>
            <a:r>
              <a:rPr lang="en-GB" dirty="0"/>
              <a:t> </a:t>
            </a:r>
            <a:r>
              <a:rPr lang="en-GB" sz="3600" dirty="0">
                <a:latin typeface="Segoe UI Semibold" panose="020B0702040204020203" pitchFamily="34" charset="0"/>
                <a:ea typeface="+mj-ea"/>
                <a:cs typeface="Segoe UI Semibold" panose="020B0702040204020203" pitchFamily="34" charset="0"/>
              </a:rPr>
              <a:t>most</a:t>
            </a:r>
            <a:r>
              <a:rPr lang="en-GB" dirty="0"/>
              <a:t> </a:t>
            </a:r>
            <a:r>
              <a:rPr lang="en-GB" sz="3600" dirty="0">
                <a:latin typeface="Segoe UI Semibold" panose="020B0702040204020203" pitchFamily="34" charset="0"/>
                <a:ea typeface="+mj-ea"/>
                <a:cs typeface="Segoe UI Semibold" panose="020B0702040204020203" pitchFamily="34" charset="0"/>
              </a:rPr>
              <a:t>orders</a:t>
            </a:r>
            <a:r>
              <a:rPr lang="en-GB" dirty="0"/>
              <a:t> </a:t>
            </a:r>
            <a:r>
              <a:rPr lang="en-GB" sz="3600" dirty="0">
                <a:latin typeface="Segoe UI Semibold" panose="020B0702040204020203" pitchFamily="34" charset="0"/>
                <a:ea typeface="+mj-ea"/>
                <a:cs typeface="Segoe UI Semibold" panose="020B0702040204020203" pitchFamily="34" charset="0"/>
              </a:rPr>
              <a:t>and</a:t>
            </a:r>
            <a:r>
              <a:rPr lang="en-GB" dirty="0"/>
              <a:t> </a:t>
            </a:r>
            <a:r>
              <a:rPr lang="en-GB" sz="3600" dirty="0">
                <a:latin typeface="Segoe UI Semibold" panose="020B0702040204020203" pitchFamily="34" charset="0"/>
                <a:ea typeface="+mj-ea"/>
                <a:cs typeface="Segoe UI Semibold" panose="020B0702040204020203" pitchFamily="34" charset="0"/>
              </a:rPr>
              <a:t>revenue?</a:t>
            </a:r>
          </a:p>
        </p:txBody>
      </p:sp>
      <p:sp>
        <p:nvSpPr>
          <p:cNvPr id="5" name="TextBox 4">
            <a:extLst>
              <a:ext uri="{FF2B5EF4-FFF2-40B4-BE49-F238E27FC236}">
                <a16:creationId xmlns:a16="http://schemas.microsoft.com/office/drawing/2014/main" id="{3400C911-9612-F001-6B90-AC06D39F8454}"/>
              </a:ext>
            </a:extLst>
          </p:cNvPr>
          <p:cNvSpPr txBox="1"/>
          <p:nvPr/>
        </p:nvSpPr>
        <p:spPr>
          <a:xfrm>
            <a:off x="1235309" y="5528473"/>
            <a:ext cx="9305048" cy="923330"/>
          </a:xfrm>
          <a:prstGeom prst="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285750" indent="-285750">
              <a:buFont typeface="Arial" panose="020B0604020202020204" pitchFamily="34" charset="0"/>
              <a:buChar cha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São Paulo dominates by a wide margin (39.5% of total revenue).</a:t>
            </a:r>
          </a:p>
          <a:p>
            <a:r>
              <a:rPr lang="pt-BR" dirty="0"/>
              <a:t>Rio de Janeiro and Minas Gerais follow.</a:t>
            </a:r>
          </a:p>
          <a:p>
            <a:r>
              <a:rPr lang="en-GB" dirty="0"/>
              <a:t>These regions should remain focal points for logistics optimization and marketing investments.</a:t>
            </a:r>
          </a:p>
        </p:txBody>
      </p:sp>
      <p:pic>
        <p:nvPicPr>
          <p:cNvPr id="7" name="Picture 6">
            <a:extLst>
              <a:ext uri="{FF2B5EF4-FFF2-40B4-BE49-F238E27FC236}">
                <a16:creationId xmlns:a16="http://schemas.microsoft.com/office/drawing/2014/main" id="{F290760F-01D1-4218-3E3B-B020875E9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203" y="952901"/>
            <a:ext cx="10345594" cy="4398744"/>
          </a:xfrm>
          <a:prstGeom prst="rect">
            <a:avLst/>
          </a:prstGeom>
        </p:spPr>
      </p:pic>
    </p:spTree>
    <p:extLst>
      <p:ext uri="{BB962C8B-B14F-4D97-AF65-F5344CB8AC3E}">
        <p14:creationId xmlns:p14="http://schemas.microsoft.com/office/powerpoint/2010/main" val="909027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50ED0-5FB3-F34C-B613-73BB92312DAB}"/>
              </a:ext>
            </a:extLst>
          </p:cNvPr>
          <p:cNvSpPr txBox="1"/>
          <p:nvPr/>
        </p:nvSpPr>
        <p:spPr>
          <a:xfrm>
            <a:off x="2601796" y="631596"/>
            <a:ext cx="7108869" cy="646331"/>
          </a:xfrm>
          <a:prstGeom prst="rect">
            <a:avLst/>
          </a:prstGeom>
          <a:noFill/>
        </p:spPr>
        <p:txBody>
          <a:bodyPr wrap="none" rtlCol="0">
            <a:spAutoFit/>
          </a:bodyPr>
          <a:lstStyle/>
          <a:p>
            <a:r>
              <a:rPr lang="en-GB" sz="3600" dirty="0">
                <a:latin typeface="Segoe UI Semibold" panose="020B0702040204020203" pitchFamily="34" charset="0"/>
                <a:ea typeface="+mj-ea"/>
                <a:cs typeface="Segoe UI Semibold" panose="020B0702040204020203" pitchFamily="34" charset="0"/>
              </a:rPr>
              <a:t>Who</a:t>
            </a:r>
            <a:r>
              <a:rPr lang="en-GB" dirty="0"/>
              <a:t> </a:t>
            </a:r>
            <a:r>
              <a:rPr lang="en-GB" sz="3600" dirty="0">
                <a:latin typeface="Segoe UI Semibold" panose="020B0702040204020203" pitchFamily="34" charset="0"/>
                <a:ea typeface="+mj-ea"/>
                <a:cs typeface="Segoe UI Semibold" panose="020B0702040204020203" pitchFamily="34" charset="0"/>
              </a:rPr>
              <a:t>are</a:t>
            </a:r>
            <a:r>
              <a:rPr lang="en-GB" dirty="0"/>
              <a:t> </a:t>
            </a:r>
            <a:r>
              <a:rPr lang="en-GB" sz="3600" dirty="0">
                <a:latin typeface="Segoe UI Semibold" panose="020B0702040204020203" pitchFamily="34" charset="0"/>
                <a:ea typeface="+mj-ea"/>
                <a:cs typeface="Segoe UI Semibold" panose="020B0702040204020203" pitchFamily="34" charset="0"/>
              </a:rPr>
              <a:t>our</a:t>
            </a:r>
            <a:r>
              <a:rPr lang="en-GB" dirty="0"/>
              <a:t> </a:t>
            </a:r>
            <a:r>
              <a:rPr lang="en-GB" sz="3600" dirty="0">
                <a:latin typeface="Segoe UI Semibold" panose="020B0702040204020203" pitchFamily="34" charset="0"/>
                <a:ea typeface="+mj-ea"/>
                <a:cs typeface="Segoe UI Semibold" panose="020B0702040204020203" pitchFamily="34" charset="0"/>
              </a:rPr>
              <a:t>most</a:t>
            </a:r>
            <a:r>
              <a:rPr lang="en-GB" dirty="0"/>
              <a:t> </a:t>
            </a:r>
            <a:r>
              <a:rPr lang="en-GB" sz="3600" dirty="0">
                <a:latin typeface="Segoe UI Semibold" panose="020B0702040204020203" pitchFamily="34" charset="0"/>
                <a:ea typeface="+mj-ea"/>
                <a:cs typeface="Segoe UI Semibold" panose="020B0702040204020203" pitchFamily="34" charset="0"/>
              </a:rPr>
              <a:t>valuable</a:t>
            </a:r>
            <a:r>
              <a:rPr lang="en-GB" dirty="0"/>
              <a:t> </a:t>
            </a:r>
            <a:r>
              <a:rPr lang="en-GB" sz="3600" dirty="0">
                <a:latin typeface="Segoe UI Semibold" panose="020B0702040204020203" pitchFamily="34" charset="0"/>
                <a:ea typeface="+mj-ea"/>
                <a:cs typeface="Segoe UI Semibold" panose="020B0702040204020203" pitchFamily="34" charset="0"/>
              </a:rPr>
              <a:t>sellers?</a:t>
            </a:r>
          </a:p>
        </p:txBody>
      </p:sp>
      <p:pic>
        <p:nvPicPr>
          <p:cNvPr id="6" name="Picture 5">
            <a:extLst>
              <a:ext uri="{FF2B5EF4-FFF2-40B4-BE49-F238E27FC236}">
                <a16:creationId xmlns:a16="http://schemas.microsoft.com/office/drawing/2014/main" id="{520B47D4-C7C0-752E-847F-01B05420A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5431" y="1207302"/>
            <a:ext cx="9164329" cy="3029373"/>
          </a:xfrm>
          <a:prstGeom prst="rect">
            <a:avLst/>
          </a:prstGeom>
        </p:spPr>
      </p:pic>
      <p:sp>
        <p:nvSpPr>
          <p:cNvPr id="7" name="TextBox 6">
            <a:extLst>
              <a:ext uri="{FF2B5EF4-FFF2-40B4-BE49-F238E27FC236}">
                <a16:creationId xmlns:a16="http://schemas.microsoft.com/office/drawing/2014/main" id="{A98E4B73-E5F6-C8FB-3918-7B7AFB6993FB}"/>
              </a:ext>
            </a:extLst>
          </p:cNvPr>
          <p:cNvSpPr txBox="1"/>
          <p:nvPr/>
        </p:nvSpPr>
        <p:spPr>
          <a:xfrm>
            <a:off x="2224725" y="4911365"/>
            <a:ext cx="7890235" cy="646331"/>
          </a:xfrm>
          <a:prstGeom prst="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285750" indent="-285750">
              <a:buFont typeface="Arial" panose="020B0604020202020204" pitchFamily="34" charset="0"/>
              <a:buChar cha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Top sellers account for a large share </a:t>
            </a:r>
            <a:r>
              <a:rPr lang="en-GB"/>
              <a:t>of orders</a:t>
            </a:r>
            <a:r>
              <a:rPr lang="en-GB" dirty="0"/>
              <a:t>.</a:t>
            </a:r>
          </a:p>
          <a:p>
            <a:r>
              <a:rPr lang="en-GB" dirty="0"/>
              <a:t>High review scores correlate with higher order </a:t>
            </a:r>
            <a:r>
              <a:rPr lang="en-GB"/>
              <a:t>volume.</a:t>
            </a:r>
            <a:endParaRPr lang="en-GB" dirty="0"/>
          </a:p>
        </p:txBody>
      </p:sp>
    </p:spTree>
    <p:extLst>
      <p:ext uri="{BB962C8B-B14F-4D97-AF65-F5344CB8AC3E}">
        <p14:creationId xmlns:p14="http://schemas.microsoft.com/office/powerpoint/2010/main" val="211056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3738E-9A0D-DB71-257C-0139BB4130AF}"/>
              </a:ext>
            </a:extLst>
          </p:cNvPr>
          <p:cNvSpPr txBox="1"/>
          <p:nvPr/>
        </p:nvSpPr>
        <p:spPr>
          <a:xfrm>
            <a:off x="4023349" y="223838"/>
            <a:ext cx="4145302" cy="646331"/>
          </a:xfrm>
          <a:prstGeom prst="rect">
            <a:avLst/>
          </a:prstGeom>
          <a:noFill/>
        </p:spPr>
        <p:txBody>
          <a:bodyPr wrap="none" rtlCol="0">
            <a:spAutoFit/>
          </a:bodyPr>
          <a:lstStyle/>
          <a:p>
            <a:r>
              <a:rPr lang="en-US" sz="3600" dirty="0">
                <a:latin typeface="Segoe UI Semibold" panose="020B0702040204020203" pitchFamily="34" charset="0"/>
                <a:ea typeface="+mj-ea"/>
                <a:cs typeface="Segoe UI Semibold" panose="020B0702040204020203" pitchFamily="34" charset="0"/>
              </a:rPr>
              <a:t>Executive</a:t>
            </a:r>
            <a:r>
              <a:rPr lang="en-US" dirty="0"/>
              <a:t> </a:t>
            </a:r>
            <a:r>
              <a:rPr lang="en-US" sz="3600" dirty="0">
                <a:latin typeface="Segoe UI Semibold" panose="020B0702040204020203" pitchFamily="34" charset="0"/>
                <a:ea typeface="+mj-ea"/>
                <a:cs typeface="Segoe UI Semibold" panose="020B0702040204020203" pitchFamily="34" charset="0"/>
              </a:rPr>
              <a:t>summary</a:t>
            </a:r>
            <a:endParaRPr lang="en-GB" sz="3600" dirty="0">
              <a:latin typeface="Segoe UI Semibold" panose="020B0702040204020203" pitchFamily="34" charset="0"/>
              <a:ea typeface="+mj-ea"/>
              <a:cs typeface="Segoe UI Semibold" panose="020B0702040204020203" pitchFamily="34" charset="0"/>
            </a:endParaRPr>
          </a:p>
        </p:txBody>
      </p:sp>
      <p:sp>
        <p:nvSpPr>
          <p:cNvPr id="3" name="Rectangle: Rounded Corners 2">
            <a:extLst>
              <a:ext uri="{FF2B5EF4-FFF2-40B4-BE49-F238E27FC236}">
                <a16:creationId xmlns:a16="http://schemas.microsoft.com/office/drawing/2014/main" id="{A4565895-7BFD-3D87-5291-40ED86F6612A}"/>
              </a:ext>
            </a:extLst>
          </p:cNvPr>
          <p:cNvSpPr/>
          <p:nvPr/>
        </p:nvSpPr>
        <p:spPr>
          <a:xfrm>
            <a:off x="1140641" y="1272619"/>
            <a:ext cx="10180949" cy="1734532"/>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2400" dirty="0"/>
          </a:p>
          <a:p>
            <a:pPr algn="ctr"/>
            <a:r>
              <a:rPr lang="en-GB" sz="2400" dirty="0"/>
              <a:t>Business Performance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Revenue and customer volume increased steadily from 2016–2018.</a:t>
            </a:r>
          </a:p>
          <a:p>
            <a:pPr marL="285750" indent="-285750">
              <a:buFont typeface="Arial" panose="020B0604020202020204" pitchFamily="34" charset="0"/>
              <a:buChar char="•"/>
            </a:pPr>
            <a:r>
              <a:rPr lang="en-GB" dirty="0"/>
              <a:t>2018 recorded the highest performance across all major KPIs.</a:t>
            </a:r>
          </a:p>
          <a:p>
            <a:pPr marL="285750" indent="-285750">
              <a:buFont typeface="Arial" panose="020B0604020202020204" pitchFamily="34" charset="0"/>
              <a:buChar char="•"/>
            </a:pPr>
            <a:r>
              <a:rPr lang="en-GB" dirty="0"/>
              <a:t>Southeast states (São Paulo, Rio, Minas Gerais) dominate revenue contribution</a:t>
            </a:r>
            <a:br>
              <a:rPr lang="en-GB" dirty="0"/>
            </a:br>
            <a:br>
              <a:rPr lang="en-GB" dirty="0"/>
            </a:br>
            <a:endParaRPr lang="en-GB" dirty="0"/>
          </a:p>
        </p:txBody>
      </p:sp>
      <p:sp>
        <p:nvSpPr>
          <p:cNvPr id="5" name="Rectangle: Rounded Corners 4">
            <a:extLst>
              <a:ext uri="{FF2B5EF4-FFF2-40B4-BE49-F238E27FC236}">
                <a16:creationId xmlns:a16="http://schemas.microsoft.com/office/drawing/2014/main" id="{93BD9AB5-9396-4E16-77DF-3EDE09A75A90}"/>
              </a:ext>
            </a:extLst>
          </p:cNvPr>
          <p:cNvSpPr/>
          <p:nvPr/>
        </p:nvSpPr>
        <p:spPr>
          <a:xfrm>
            <a:off x="1150068" y="5058823"/>
            <a:ext cx="10180949" cy="1734532"/>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Operation and delivery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GB" dirty="0"/>
              <a:t>Delivery speed improved from 19 to 17 days on average.</a:t>
            </a:r>
          </a:p>
          <a:p>
            <a:pPr marL="285750" indent="-285750">
              <a:buFont typeface="Arial" panose="020B0604020202020204" pitchFamily="34" charset="0"/>
              <a:buChar char="•"/>
            </a:pPr>
            <a:r>
              <a:rPr lang="en-GB" dirty="0"/>
              <a:t>Top sellers with faster delivery and higher ratings attract more buyers.</a:t>
            </a:r>
          </a:p>
          <a:p>
            <a:br>
              <a:rPr lang="en-GB" dirty="0"/>
            </a:br>
            <a:endParaRPr lang="en-GB" dirty="0"/>
          </a:p>
        </p:txBody>
      </p:sp>
      <p:sp>
        <p:nvSpPr>
          <p:cNvPr id="6" name="Rectangle: Rounded Corners 5">
            <a:extLst>
              <a:ext uri="{FF2B5EF4-FFF2-40B4-BE49-F238E27FC236}">
                <a16:creationId xmlns:a16="http://schemas.microsoft.com/office/drawing/2014/main" id="{DBC6BBB8-4AC0-4F57-F320-D4728ADF68C2}"/>
              </a:ext>
            </a:extLst>
          </p:cNvPr>
          <p:cNvSpPr/>
          <p:nvPr/>
        </p:nvSpPr>
        <p:spPr>
          <a:xfrm>
            <a:off x="1168922" y="3165721"/>
            <a:ext cx="10180949" cy="1734532"/>
          </a:xfrm>
          <a:prstGeom prst="roundRect">
            <a:avLst/>
          </a:prstGeom>
          <a:solidFill>
            <a:srgbClr val="002060"/>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Customer behaviour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Large majority of customers are one-time buyers (~X%).</a:t>
            </a:r>
          </a:p>
          <a:p>
            <a:pPr marL="285750" indent="-285750">
              <a:buFont typeface="Arial" panose="020B0604020202020204" pitchFamily="34" charset="0"/>
              <a:buChar char="•"/>
            </a:pPr>
            <a:r>
              <a:rPr lang="en-GB" dirty="0"/>
              <a:t>Returning customers place larger and more frequent orders.</a:t>
            </a:r>
          </a:p>
          <a:p>
            <a:pPr marL="285750" indent="-285750">
              <a:buFont typeface="Arial" panose="020B0604020202020204" pitchFamily="34" charset="0"/>
              <a:buChar char="•"/>
            </a:pPr>
            <a:r>
              <a:rPr lang="en-GB" dirty="0"/>
              <a:t>Repeat buyers have higher lifetime value but make up a smaller portion.</a:t>
            </a:r>
          </a:p>
        </p:txBody>
      </p:sp>
    </p:spTree>
    <p:extLst>
      <p:ext uri="{BB962C8B-B14F-4D97-AF65-F5344CB8AC3E}">
        <p14:creationId xmlns:p14="http://schemas.microsoft.com/office/powerpoint/2010/main" val="19476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24B60E-0523-5DBC-F984-1B5D4B0CCD30}"/>
              </a:ext>
            </a:extLst>
          </p:cNvPr>
          <p:cNvSpPr txBox="1"/>
          <p:nvPr/>
        </p:nvSpPr>
        <p:spPr>
          <a:xfrm>
            <a:off x="3648172" y="358218"/>
            <a:ext cx="6042744" cy="646331"/>
          </a:xfrm>
          <a:prstGeom prst="rect">
            <a:avLst/>
          </a:prstGeom>
          <a:noFill/>
        </p:spPr>
        <p:txBody>
          <a:bodyPr wrap="none" rtlCol="0">
            <a:spAutoFit/>
          </a:bodyPr>
          <a:lstStyle/>
          <a:p>
            <a:r>
              <a:rPr lang="en-GB" sz="3600" dirty="0">
                <a:latin typeface="Segoe UI Semibold" panose="020B0702040204020203" pitchFamily="34" charset="0"/>
                <a:ea typeface="+mj-ea"/>
                <a:cs typeface="Segoe UI Semibold" panose="020B0702040204020203" pitchFamily="34" charset="0"/>
              </a:rPr>
              <a:t>FINAL</a:t>
            </a:r>
            <a:r>
              <a:rPr lang="en-GB" dirty="0"/>
              <a:t> </a:t>
            </a:r>
            <a:r>
              <a:rPr lang="en-GB" sz="3600" dirty="0">
                <a:latin typeface="Segoe UI Semibold" panose="020B0702040204020203" pitchFamily="34" charset="0"/>
                <a:ea typeface="+mj-ea"/>
                <a:cs typeface="Segoe UI Semibold" panose="020B0702040204020203" pitchFamily="34" charset="0"/>
              </a:rPr>
              <a:t>RECOMMENDATIONS</a:t>
            </a:r>
          </a:p>
        </p:txBody>
      </p:sp>
      <p:sp>
        <p:nvSpPr>
          <p:cNvPr id="4" name="Rectangle: Rounded Corners 3">
            <a:extLst>
              <a:ext uri="{FF2B5EF4-FFF2-40B4-BE49-F238E27FC236}">
                <a16:creationId xmlns:a16="http://schemas.microsoft.com/office/drawing/2014/main" id="{3F7551D4-C2FB-F4D1-3137-50387B79AF26}"/>
              </a:ext>
            </a:extLst>
          </p:cNvPr>
          <p:cNvSpPr/>
          <p:nvPr/>
        </p:nvSpPr>
        <p:spPr>
          <a:xfrm>
            <a:off x="226243" y="1197203"/>
            <a:ext cx="5684363" cy="2073897"/>
          </a:xfrm>
          <a:prstGeom prst="round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Improve Customer Retention</a:t>
            </a:r>
          </a:p>
          <a:p>
            <a:pPr algn="ctr"/>
            <a:endParaRPr lang="en-US" sz="2400" dirty="0"/>
          </a:p>
          <a:p>
            <a:pPr marL="285750" indent="-285750">
              <a:buFont typeface="Arial" panose="020B0604020202020204" pitchFamily="34" charset="0"/>
              <a:buChar char="•"/>
            </a:pPr>
            <a:r>
              <a:rPr lang="en-GB"/>
              <a:t>Introduce loyalty rewards for repeat buyers</a:t>
            </a:r>
          </a:p>
          <a:p>
            <a:pPr marL="285750" indent="-285750">
              <a:buFont typeface="Arial" panose="020B0604020202020204" pitchFamily="34" charset="0"/>
              <a:buChar char="•"/>
            </a:pPr>
            <a:r>
              <a:rPr lang="en-GB"/>
              <a:t>Offer targeted discounts for customers inactive for &gt;60 days</a:t>
            </a:r>
          </a:p>
          <a:p>
            <a:pPr marL="285750" indent="-285750">
              <a:buFont typeface="Arial" panose="020B0604020202020204" pitchFamily="34" charset="0"/>
              <a:buChar char="•"/>
            </a:pPr>
            <a:r>
              <a:rPr lang="en-GB"/>
              <a:t>Promote bundles to increase order value</a:t>
            </a:r>
            <a:endParaRPr lang="en-GB" dirty="0"/>
          </a:p>
        </p:txBody>
      </p:sp>
      <p:sp>
        <p:nvSpPr>
          <p:cNvPr id="8" name="Rectangle: Rounded Corners 7">
            <a:extLst>
              <a:ext uri="{FF2B5EF4-FFF2-40B4-BE49-F238E27FC236}">
                <a16:creationId xmlns:a16="http://schemas.microsoft.com/office/drawing/2014/main" id="{FA824B3A-D4F5-492C-A165-21104EA61D92}"/>
              </a:ext>
            </a:extLst>
          </p:cNvPr>
          <p:cNvSpPr/>
          <p:nvPr/>
        </p:nvSpPr>
        <p:spPr>
          <a:xfrm>
            <a:off x="6281394" y="1197203"/>
            <a:ext cx="5684363" cy="2073897"/>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a:t>Optimize Delivery Speed</a:t>
            </a:r>
          </a:p>
          <a:p>
            <a:pPr marL="342900" indent="-342900">
              <a:buFont typeface="Arial" panose="020B0604020202020204" pitchFamily="34" charset="0"/>
              <a:buChar char="•"/>
            </a:pPr>
            <a:endParaRPr lang="en-GB" sz="2400"/>
          </a:p>
          <a:p>
            <a:pPr marL="285750" indent="-285750">
              <a:buFont typeface="Arial" panose="020B0604020202020204" pitchFamily="34" charset="0"/>
              <a:buChar char="•"/>
            </a:pPr>
            <a:r>
              <a:rPr lang="en-GB"/>
              <a:t>Strengthen partnerships with faster delivery carriers</a:t>
            </a:r>
          </a:p>
          <a:p>
            <a:pPr marL="285750" indent="-285750">
              <a:buFont typeface="Arial" panose="020B0604020202020204" pitchFamily="34" charset="0"/>
              <a:buChar char="•"/>
            </a:pPr>
            <a:r>
              <a:rPr lang="en-GB"/>
              <a:t>Add regional hubs for Southeast and South regions</a:t>
            </a:r>
          </a:p>
          <a:p>
            <a:pPr marL="285750" indent="-285750">
              <a:buFont typeface="Arial" panose="020B0604020202020204" pitchFamily="34" charset="0"/>
              <a:buChar char="•"/>
            </a:pPr>
            <a:r>
              <a:rPr lang="en-GB"/>
              <a:t>Promote bundles to increase order value</a:t>
            </a:r>
          </a:p>
          <a:p>
            <a:pPr algn="ctr"/>
            <a:endParaRPr lang="en-GB" sz="2400" dirty="0"/>
          </a:p>
        </p:txBody>
      </p:sp>
      <p:sp>
        <p:nvSpPr>
          <p:cNvPr id="9" name="Rectangle: Rounded Corners 8">
            <a:extLst>
              <a:ext uri="{FF2B5EF4-FFF2-40B4-BE49-F238E27FC236}">
                <a16:creationId xmlns:a16="http://schemas.microsoft.com/office/drawing/2014/main" id="{2FBFA1F9-33F4-3187-7A5B-DBAD545DAD7D}"/>
              </a:ext>
            </a:extLst>
          </p:cNvPr>
          <p:cNvSpPr/>
          <p:nvPr/>
        </p:nvSpPr>
        <p:spPr>
          <a:xfrm>
            <a:off x="226243" y="3753438"/>
            <a:ext cx="5684363" cy="2073897"/>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Invest in High-Performing Sellers</a:t>
            </a:r>
            <a:endParaRPr lang="en-US" sz="2400" dirty="0"/>
          </a:p>
          <a:p>
            <a:pPr algn="ctr"/>
            <a:endParaRPr lang="en-US" sz="2400" dirty="0"/>
          </a:p>
          <a:p>
            <a:pPr marL="285750" indent="-285750">
              <a:buFont typeface="Arial" panose="020B0604020202020204" pitchFamily="34" charset="0"/>
              <a:buChar char="•"/>
            </a:pPr>
            <a:r>
              <a:rPr lang="en-GB" dirty="0"/>
              <a:t>Highlight top sellers on the homepage</a:t>
            </a:r>
          </a:p>
          <a:p>
            <a:pPr marL="285750" indent="-285750">
              <a:buFont typeface="Arial" panose="020B0604020202020204" pitchFamily="34" charset="0"/>
              <a:buChar char="•"/>
            </a:pPr>
            <a:r>
              <a:rPr lang="en-GB" dirty="0"/>
              <a:t>Offer priority visibility to sellers with high ratings</a:t>
            </a:r>
          </a:p>
          <a:p>
            <a:pPr marL="285750" indent="-285750">
              <a:buFont typeface="Arial" panose="020B0604020202020204" pitchFamily="34" charset="0"/>
              <a:buChar char="•"/>
            </a:pPr>
            <a:r>
              <a:rPr lang="en-GB" dirty="0"/>
              <a:t>Provide training to low-performing sellers to improve delivery and rating scores</a:t>
            </a:r>
          </a:p>
        </p:txBody>
      </p:sp>
      <p:sp>
        <p:nvSpPr>
          <p:cNvPr id="10" name="Rectangle: Rounded Corners 9">
            <a:extLst>
              <a:ext uri="{FF2B5EF4-FFF2-40B4-BE49-F238E27FC236}">
                <a16:creationId xmlns:a16="http://schemas.microsoft.com/office/drawing/2014/main" id="{097BAA81-819A-C266-3917-6A9EFD0E6AA5}"/>
              </a:ext>
            </a:extLst>
          </p:cNvPr>
          <p:cNvSpPr/>
          <p:nvPr/>
        </p:nvSpPr>
        <p:spPr>
          <a:xfrm>
            <a:off x="6281394" y="3753438"/>
            <a:ext cx="5684363" cy="2073897"/>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Expand in High-Revenue States</a:t>
            </a:r>
            <a:endParaRPr lang="en-US" sz="2400" dirty="0"/>
          </a:p>
          <a:p>
            <a:pPr algn="ctr"/>
            <a:endParaRPr lang="en-US" sz="2400" dirty="0"/>
          </a:p>
          <a:p>
            <a:pPr marL="285750" indent="-285750">
              <a:buFont typeface="Arial" panose="020B0604020202020204" pitchFamily="34" charset="0"/>
              <a:buChar char="•"/>
            </a:pPr>
            <a:r>
              <a:rPr lang="pt-BR" dirty="0"/>
              <a:t>Prioritize marketing in São Paulo, Rio, Minas Gerais</a:t>
            </a:r>
            <a:endParaRPr lang="en-GB" dirty="0"/>
          </a:p>
          <a:p>
            <a:pPr marL="285750" indent="-285750">
              <a:buFont typeface="Arial" panose="020B0604020202020204" pitchFamily="34" charset="0"/>
              <a:buChar char="•"/>
            </a:pPr>
            <a:r>
              <a:rPr lang="en-GB" dirty="0"/>
              <a:t>Launch region-specific promotions during peak months</a:t>
            </a:r>
          </a:p>
          <a:p>
            <a:pPr marL="285750" indent="-285750">
              <a:buFont typeface="Arial" panose="020B0604020202020204" pitchFamily="34" charset="0"/>
              <a:buChar char="•"/>
            </a:pPr>
            <a:r>
              <a:rPr lang="en-GB" dirty="0"/>
              <a:t>Improve logistics coverage in these states to support higher demand</a:t>
            </a:r>
          </a:p>
        </p:txBody>
      </p:sp>
    </p:spTree>
    <p:extLst>
      <p:ext uri="{BB962C8B-B14F-4D97-AF65-F5344CB8AC3E}">
        <p14:creationId xmlns:p14="http://schemas.microsoft.com/office/powerpoint/2010/main" val="4051289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9530</TotalTime>
  <Words>825</Words>
  <Application>Microsoft Office PowerPoint</Application>
  <PresentationFormat>Widescreen</PresentationFormat>
  <Paragraphs>90</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Segoe UI Semibold</vt:lpstr>
      <vt:lpstr>Office Theme</vt:lpstr>
      <vt:lpstr> E-Commerce Analytics Dashboard Uncovering insights into sales, delivery, and customer behavior using SQL &amp; Tableau</vt:lpstr>
      <vt:lpstr>Why This Project?</vt:lpstr>
      <vt:lpstr> Data Sources &amp; Tools</vt:lpstr>
      <vt:lpstr>Key Performance Indicators (KPIs)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THIS-PC</dc:creator>
  <cp:lastModifiedBy>THIS-PC</cp:lastModifiedBy>
  <cp:revision>4</cp:revision>
  <dcterms:created xsi:type="dcterms:W3CDTF">2025-11-07T08:05:00Z</dcterms:created>
  <dcterms:modified xsi:type="dcterms:W3CDTF">2025-11-15T16:33:02Z</dcterms:modified>
</cp:coreProperties>
</file>